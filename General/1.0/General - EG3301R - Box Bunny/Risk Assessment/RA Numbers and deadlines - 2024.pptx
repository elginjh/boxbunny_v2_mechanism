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5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10" Type="http://schemas.openxmlformats.org/officeDocument/2006/relationships/customXml" Target="../customXml/item3.xml"/><Relationship Id="rId4" Type="http://schemas.openxmlformats.org/officeDocument/2006/relationships/presProps" Target="presProps.xml"/><Relationship Id="rId9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3A6A1-08A3-4D9F-A2A9-5EED7ED2206E}" type="datetimeFigureOut">
              <a:rPr lang="en-SG" smtClean="0"/>
              <a:t>28/8/2024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48D28-F3DE-457A-9DFC-BCC03E445F9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29468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3A6A1-08A3-4D9F-A2A9-5EED7ED2206E}" type="datetimeFigureOut">
              <a:rPr lang="en-SG" smtClean="0"/>
              <a:t>28/8/2024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48D28-F3DE-457A-9DFC-BCC03E445F9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78253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3A6A1-08A3-4D9F-A2A9-5EED7ED2206E}" type="datetimeFigureOut">
              <a:rPr lang="en-SG" smtClean="0"/>
              <a:t>28/8/2024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48D28-F3DE-457A-9DFC-BCC03E445F9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00926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3A6A1-08A3-4D9F-A2A9-5EED7ED2206E}" type="datetimeFigureOut">
              <a:rPr lang="en-SG" smtClean="0"/>
              <a:t>28/8/2024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48D28-F3DE-457A-9DFC-BCC03E445F9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61575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3A6A1-08A3-4D9F-A2A9-5EED7ED2206E}" type="datetimeFigureOut">
              <a:rPr lang="en-SG" smtClean="0"/>
              <a:t>28/8/2024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48D28-F3DE-457A-9DFC-BCC03E445F9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11749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3A6A1-08A3-4D9F-A2A9-5EED7ED2206E}" type="datetimeFigureOut">
              <a:rPr lang="en-SG" smtClean="0"/>
              <a:t>28/8/2024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48D28-F3DE-457A-9DFC-BCC03E445F9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18916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3A6A1-08A3-4D9F-A2A9-5EED7ED2206E}" type="datetimeFigureOut">
              <a:rPr lang="en-SG" smtClean="0"/>
              <a:t>28/8/2024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48D28-F3DE-457A-9DFC-BCC03E445F9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61251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3A6A1-08A3-4D9F-A2A9-5EED7ED2206E}" type="datetimeFigureOut">
              <a:rPr lang="en-SG" smtClean="0"/>
              <a:t>28/8/2024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48D28-F3DE-457A-9DFC-BCC03E445F9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93196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3A6A1-08A3-4D9F-A2A9-5EED7ED2206E}" type="datetimeFigureOut">
              <a:rPr lang="en-SG" smtClean="0"/>
              <a:t>28/8/2024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48D28-F3DE-457A-9DFC-BCC03E445F9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28578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3A6A1-08A3-4D9F-A2A9-5EED7ED2206E}" type="datetimeFigureOut">
              <a:rPr lang="en-SG" smtClean="0"/>
              <a:t>28/8/2024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48D28-F3DE-457A-9DFC-BCC03E445F9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33073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3A6A1-08A3-4D9F-A2A9-5EED7ED2206E}" type="datetimeFigureOut">
              <a:rPr lang="en-SG" smtClean="0"/>
              <a:t>28/8/2024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48D28-F3DE-457A-9DFC-BCC03E445F9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92979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E3A6A1-08A3-4D9F-A2A9-5EED7ED2206E}" type="datetimeFigureOut">
              <a:rPr lang="en-SG" smtClean="0"/>
              <a:t>28/8/2024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748D28-F3DE-457A-9DFC-BCC03E445F9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52763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51116" y="215215"/>
            <a:ext cx="811908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What is your RA document number?</a:t>
            </a:r>
            <a:endParaRPr lang="en-SG" sz="4000" b="1" dirty="0">
              <a:solidFill>
                <a:srgbClr val="FF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425015" y="890050"/>
            <a:ext cx="9368142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sz="2000" b="1" u="sng" dirty="0">
                <a:latin typeface="Calibri" panose="020F0502020204030204" pitchFamily="34" charset="0"/>
                <a:ea typeface="Calibri" panose="020F0502020204030204" pitchFamily="34" charset="0"/>
              </a:rPr>
              <a:t>Project Risk Evaluation Form</a:t>
            </a:r>
          </a:p>
          <a:p>
            <a:pPr>
              <a:spcAft>
                <a:spcPts val="0"/>
              </a:spcAft>
            </a:pPr>
            <a:endParaRPr lang="en-US" sz="2600" b="1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spcAft>
                <a:spcPts val="0"/>
              </a:spcAft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</a:rPr>
              <a:t>Format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: </a:t>
            </a:r>
            <a:r>
              <a:rPr lang="en-US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RA/Module Code/Project Code/year</a:t>
            </a:r>
          </a:p>
          <a:p>
            <a:pPr>
              <a:spcAft>
                <a:spcPts val="0"/>
              </a:spcAft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spcAft>
                <a:spcPts val="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For example, if your Project code is EIM321, then your Project Evaluation Form number will be:</a:t>
            </a:r>
          </a:p>
          <a:p>
            <a:pPr>
              <a:spcAft>
                <a:spcPts val="0"/>
              </a:spcAft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spcAft>
                <a:spcPts val="0"/>
              </a:spcAft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</a:rPr>
              <a:t>	</a:t>
            </a:r>
            <a:r>
              <a:rPr lang="en-US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RA/EG3301R/EIM321/2024</a:t>
            </a:r>
          </a:p>
          <a:p>
            <a:pPr>
              <a:spcAft>
                <a:spcPts val="0"/>
              </a:spcAft>
            </a:pPr>
            <a:endParaRPr lang="en-US" b="1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spcAft>
                <a:spcPts val="0"/>
              </a:spcAft>
            </a:pPr>
            <a:r>
              <a:rPr lang="en-US" sz="2000" b="1" u="sng" dirty="0">
                <a:latin typeface="Calibri" panose="020F0502020204030204" pitchFamily="34" charset="0"/>
                <a:ea typeface="Calibri" panose="020F0502020204030204" pitchFamily="34" charset="0"/>
              </a:rPr>
              <a:t>Activity or Experiment based Risk Assessment Form</a:t>
            </a:r>
          </a:p>
          <a:p>
            <a:pPr>
              <a:spcAft>
                <a:spcPts val="0"/>
              </a:spcAft>
            </a:pPr>
            <a:endParaRPr lang="en-US" b="1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spcAft>
                <a:spcPts val="0"/>
              </a:spcAft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</a:rPr>
              <a:t>If you are attaching one or more new Activity or Experiment based RA to your Project Risk Evaluation, then name them as:</a:t>
            </a:r>
          </a:p>
          <a:p>
            <a:pPr>
              <a:spcAft>
                <a:spcPts val="0"/>
              </a:spcAft>
            </a:pPr>
            <a:endParaRPr lang="en-US" b="1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spcAft>
                <a:spcPts val="0"/>
              </a:spcAft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</a:rPr>
              <a:t>	</a:t>
            </a:r>
            <a:r>
              <a:rPr lang="en-US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RA/EG3301R/EIM321/2024-1	   for the 1</a:t>
            </a:r>
            <a:r>
              <a:rPr lang="en-US" b="1" baseline="30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st</a:t>
            </a:r>
            <a:r>
              <a:rPr lang="en-US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Activity RA</a:t>
            </a:r>
          </a:p>
          <a:p>
            <a:pPr>
              <a:spcAft>
                <a:spcPts val="0"/>
              </a:spcAft>
            </a:pPr>
            <a:r>
              <a:rPr lang="en-US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	RA/EG3301R/EIM321/2024-2	   for the 2</a:t>
            </a:r>
            <a:r>
              <a:rPr lang="en-US" b="1" baseline="30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nd</a:t>
            </a:r>
            <a:r>
              <a:rPr lang="en-US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Activity RA</a:t>
            </a:r>
          </a:p>
          <a:p>
            <a:pPr>
              <a:spcAft>
                <a:spcPts val="0"/>
              </a:spcAft>
            </a:pPr>
            <a:r>
              <a:rPr lang="en-US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	RA/EG3301R/EIM321/2024-3	   for the 3</a:t>
            </a:r>
            <a:r>
              <a:rPr lang="en-US" b="1" baseline="30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rd</a:t>
            </a:r>
            <a:r>
              <a:rPr lang="en-US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Activity RA</a:t>
            </a:r>
          </a:p>
          <a:p>
            <a:pPr>
              <a:spcAft>
                <a:spcPts val="0"/>
              </a:spcAft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</a:rPr>
              <a:t>	and so on - - -		   	   - - -</a:t>
            </a:r>
          </a:p>
          <a:p>
            <a:pPr>
              <a:spcAft>
                <a:spcPts val="0"/>
              </a:spcAft>
            </a:pPr>
            <a:endParaRPr lang="en-US" b="1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spcAft>
                <a:spcPts val="0"/>
              </a:spcAft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</a:rPr>
              <a:t>If you are attaching a standard Activity RA from the EDIC workshops or CDE Central Workshop, then just name them as they are documented in the workshops</a:t>
            </a:r>
            <a:endParaRPr lang="en-SG" b="1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41863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02820" y="421781"/>
            <a:ext cx="860440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Submission Deadlines for RA (EG3301R)</a:t>
            </a:r>
            <a:endParaRPr lang="en-SG" sz="4000" b="1" dirty="0">
              <a:solidFill>
                <a:srgbClr val="FF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85731" y="1296364"/>
            <a:ext cx="9653287" cy="5401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b="1" dirty="0"/>
              <a:t>By </a:t>
            </a:r>
            <a:r>
              <a:rPr lang="en-US" sz="2300" b="1" u="sng" dirty="0">
                <a:solidFill>
                  <a:srgbClr val="FF0000"/>
                </a:solidFill>
              </a:rPr>
              <a:t>13 Apr 2024, 2359Hrs</a:t>
            </a:r>
            <a:r>
              <a:rPr lang="en-US" sz="2300" b="1" dirty="0"/>
              <a:t>:</a:t>
            </a:r>
          </a:p>
          <a:p>
            <a:r>
              <a:rPr lang="en-US" sz="2300" b="1" dirty="0"/>
              <a:t>	to submit the </a:t>
            </a:r>
            <a:r>
              <a:rPr lang="en-US" sz="2300" b="1" u="sng" dirty="0"/>
              <a:t>Preliminary Project Based Risk Evaluation Form</a:t>
            </a:r>
            <a:endParaRPr lang="en-US" sz="2300" b="1" dirty="0"/>
          </a:p>
          <a:p>
            <a:r>
              <a:rPr lang="en-US" sz="2300" b="1" dirty="0"/>
              <a:t>	-   this is a preliminary evaluation based on what you know 	  	    	    about your project at this point of time.</a:t>
            </a:r>
          </a:p>
          <a:p>
            <a:r>
              <a:rPr lang="en-US" sz="2300" b="1" dirty="0"/>
              <a:t>	-   state what activity based Risk Assessments (RA) you will need.</a:t>
            </a:r>
          </a:p>
          <a:p>
            <a:r>
              <a:rPr lang="en-US" sz="2300" b="1" dirty="0"/>
              <a:t>	Form to be endorsed by Project Supervisor.</a:t>
            </a:r>
          </a:p>
          <a:p>
            <a:r>
              <a:rPr lang="en-US" sz="2300" b="1" dirty="0"/>
              <a:t>	</a:t>
            </a:r>
            <a:r>
              <a:rPr lang="en-US" sz="2300" b="1" u="sng" dirty="0"/>
              <a:t>Penalty for no submission: 2.5% off total grade</a:t>
            </a:r>
            <a:r>
              <a:rPr lang="en-US" sz="2300" b="1" dirty="0"/>
              <a:t>.</a:t>
            </a:r>
          </a:p>
          <a:p>
            <a:endParaRPr lang="en-US" sz="2300" b="1" dirty="0"/>
          </a:p>
          <a:p>
            <a:r>
              <a:rPr lang="en-US" sz="2300" b="1" dirty="0"/>
              <a:t>By </a:t>
            </a:r>
            <a:r>
              <a:rPr lang="en-US" sz="2300" b="1" u="sng" dirty="0">
                <a:solidFill>
                  <a:srgbClr val="FF0000"/>
                </a:solidFill>
              </a:rPr>
              <a:t>03 Nov 2024, 2359Hrs</a:t>
            </a:r>
            <a:r>
              <a:rPr lang="en-US" sz="2300" b="1" dirty="0"/>
              <a:t>:</a:t>
            </a:r>
          </a:p>
          <a:p>
            <a:r>
              <a:rPr lang="en-US" sz="2300" b="1" dirty="0"/>
              <a:t>	to submit the </a:t>
            </a:r>
            <a:r>
              <a:rPr lang="en-US" sz="23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Final </a:t>
            </a:r>
            <a:r>
              <a:rPr lang="en-US" sz="2300" b="1" u="sng" dirty="0"/>
              <a:t>Project Based Risk Evaluation Form</a:t>
            </a:r>
            <a:endParaRPr lang="en-US" sz="2300" b="1" dirty="0"/>
          </a:p>
          <a:p>
            <a:r>
              <a:rPr lang="en-US" sz="2300" b="1" dirty="0"/>
              <a:t>	-  this is an update to your Preliminary Project Based Risk Evaluation    	   Form based on the final nature of your project.</a:t>
            </a:r>
          </a:p>
          <a:p>
            <a:r>
              <a:rPr lang="en-US" sz="2300" b="1" dirty="0"/>
              <a:t>	to attach </a:t>
            </a:r>
            <a:r>
              <a:rPr lang="en-US" sz="2300" b="1" u="sng" dirty="0"/>
              <a:t>all Activity based Risk Assessment Forms</a:t>
            </a:r>
            <a:r>
              <a:rPr lang="en-US" sz="2300" b="1" dirty="0"/>
              <a:t> you require.</a:t>
            </a:r>
          </a:p>
          <a:p>
            <a:r>
              <a:rPr lang="en-US" sz="2300" b="1" dirty="0"/>
              <a:t>	All Forms to be endorsed by Project Supervisor.</a:t>
            </a:r>
          </a:p>
          <a:p>
            <a:r>
              <a:rPr lang="en-US" sz="2300" b="1" dirty="0"/>
              <a:t>	</a:t>
            </a:r>
            <a:r>
              <a:rPr lang="en-US" sz="2300" b="1" u="sng" dirty="0"/>
              <a:t>Penalty for no submission: 2.5% off total grade</a:t>
            </a:r>
            <a:r>
              <a:rPr lang="en-US" sz="2300" b="1" dirty="0"/>
              <a:t>.</a:t>
            </a:r>
            <a:endParaRPr lang="en-SG" sz="2300" b="1" dirty="0"/>
          </a:p>
        </p:txBody>
      </p:sp>
    </p:spTree>
    <p:extLst>
      <p:ext uri="{BB962C8B-B14F-4D97-AF65-F5344CB8AC3E}">
        <p14:creationId xmlns:p14="http://schemas.microsoft.com/office/powerpoint/2010/main" val="25648582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65615753B5CCD43966271C4BDE5B13C" ma:contentTypeVersion="12" ma:contentTypeDescription="Create a new document." ma:contentTypeScope="" ma:versionID="07d938646584b3620a216412687bf4bb">
  <xsd:schema xmlns:xsd="http://www.w3.org/2001/XMLSchema" xmlns:xs="http://www.w3.org/2001/XMLSchema" xmlns:p="http://schemas.microsoft.com/office/2006/metadata/properties" xmlns:ns2="49548318-0a7b-4d65-bc43-907c956e523a" xmlns:ns3="c9422598-6492-471d-9d1f-9c77f43a94f7" targetNamespace="http://schemas.microsoft.com/office/2006/metadata/properties" ma:root="true" ma:fieldsID="f7b3de0ef6ad19dc03a2ca3c97ede2cd" ns2:_="" ns3:_="">
    <xsd:import namespace="49548318-0a7b-4d65-bc43-907c956e523a"/>
    <xsd:import namespace="c9422598-6492-471d-9d1f-9c77f43a94f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548318-0a7b-4d65-bc43-907c956e52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0cca7581-5256-458a-b218-643d9525617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422598-6492-471d-9d1f-9c77f43a94f7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1daf673d-7196-4f99-b5ca-d94ad85403b2}" ma:internalName="TaxCatchAll" ma:showField="CatchAllData" ma:web="c9422598-6492-471d-9d1f-9c77f43a94f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9422598-6492-471d-9d1f-9c77f43a94f7" xsi:nil="true"/>
    <lcf76f155ced4ddcb4097134ff3c332f xmlns="49548318-0a7b-4d65-bc43-907c956e523a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47546B34-6BEF-4328-9A8D-132831B4F754}"/>
</file>

<file path=customXml/itemProps2.xml><?xml version="1.0" encoding="utf-8"?>
<ds:datastoreItem xmlns:ds="http://schemas.openxmlformats.org/officeDocument/2006/customXml" ds:itemID="{37BC3078-8001-4D40-98B2-2BEAB78DCC07}"/>
</file>

<file path=customXml/itemProps3.xml><?xml version="1.0" encoding="utf-8"?>
<ds:datastoreItem xmlns:ds="http://schemas.openxmlformats.org/officeDocument/2006/customXml" ds:itemID="{328C8B5E-65EB-435D-8C1D-917FD1740DC3}"/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323</Words>
  <Application>Microsoft Office PowerPoint</Application>
  <PresentationFormat>Widescreen</PresentationFormat>
  <Paragraphs>33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Soh Eng Keng</dc:creator>
  <cp:lastModifiedBy>Mark Philip De Lessio</cp:lastModifiedBy>
  <cp:revision>1</cp:revision>
  <dcterms:created xsi:type="dcterms:W3CDTF">2024-08-23T07:05:37Z</dcterms:created>
  <dcterms:modified xsi:type="dcterms:W3CDTF">2024-08-28T07:52:19Z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0x010100065615753B5CCD43966271C4BDE5B13C</vt:lpwstr>
  </property>
</Properties>
</file>