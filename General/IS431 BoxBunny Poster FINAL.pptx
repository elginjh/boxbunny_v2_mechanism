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10"/>
  </p:notesMasterIdLst>
  <p:sldIdLst>
    <p:sldId id="259" r:id="rId6"/>
    <p:sldId id="256" r:id="rId7"/>
    <p:sldId id="260" r:id="rId8"/>
    <p:sldId id="258" r:id="rId9"/>
  </p:sldIdLst>
  <p:sldSz cx="30267275" cy="2139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7474"/>
    <a:srgbClr val="EF7C00"/>
    <a:srgbClr val="003D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7762" autoAdjust="0"/>
    <p:restoredTop sz="96943" autoAdjust="0"/>
  </p:normalViewPr>
  <p:slideViewPr>
    <p:cSldViewPr snapToGrid="0">
      <p:cViewPr>
        <p:scale>
          <a:sx n="88" d="100"/>
          <a:sy n="88" d="100"/>
        </p:scale>
        <p:origin x="-4626" y="-5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ette Sim" userId="e4f2e74b-e4c1-4a64-ac84-f06fd666feef" providerId="ADAL" clId="{3D6ED44D-C95C-4316-B7FB-0A5C882F3F7F}"/>
    <pc:docChg chg="undo custSel modSld">
      <pc:chgData name="Jeanette Sim" userId="e4f2e74b-e4c1-4a64-ac84-f06fd666feef" providerId="ADAL" clId="{3D6ED44D-C95C-4316-B7FB-0A5C882F3F7F}" dt="2026-04-08T09:45:16.537" v="507" actId="20577"/>
      <pc:docMkLst>
        <pc:docMk/>
      </pc:docMkLst>
      <pc:sldChg chg="modSp mod">
        <pc:chgData name="Jeanette Sim" userId="e4f2e74b-e4c1-4a64-ac84-f06fd666feef" providerId="ADAL" clId="{3D6ED44D-C95C-4316-B7FB-0A5C882F3F7F}" dt="2026-04-08T09:45:16.537" v="507" actId="20577"/>
        <pc:sldMkLst>
          <pc:docMk/>
          <pc:sldMk cId="1850745899" sldId="259"/>
        </pc:sldMkLst>
        <pc:spChg chg="mod">
          <ac:chgData name="Jeanette Sim" userId="e4f2e74b-e4c1-4a64-ac84-f06fd666feef" providerId="ADAL" clId="{3D6ED44D-C95C-4316-B7FB-0A5C882F3F7F}" dt="2026-04-08T09:45:02.684" v="491" actId="1076"/>
          <ac:spMkLst>
            <pc:docMk/>
            <pc:sldMk cId="1850745899" sldId="259"/>
            <ac:spMk id="12" creationId="{00000000-0000-0000-0000-000000000000}"/>
          </ac:spMkLst>
        </pc:spChg>
        <pc:spChg chg="mod">
          <ac:chgData name="Jeanette Sim" userId="e4f2e74b-e4c1-4a64-ac84-f06fd666feef" providerId="ADAL" clId="{3D6ED44D-C95C-4316-B7FB-0A5C882F3F7F}" dt="2026-04-08T09:22:08.896" v="16" actId="20577"/>
          <ac:spMkLst>
            <pc:docMk/>
            <pc:sldMk cId="1850745899" sldId="259"/>
            <ac:spMk id="33" creationId="{00000000-0000-0000-0000-000000000000}"/>
          </ac:spMkLst>
        </pc:spChg>
        <pc:spChg chg="mod">
          <ac:chgData name="Jeanette Sim" userId="e4f2e74b-e4c1-4a64-ac84-f06fd666feef" providerId="ADAL" clId="{3D6ED44D-C95C-4316-B7FB-0A5C882F3F7F}" dt="2026-04-08T09:44:56.800" v="489" actId="20577"/>
          <ac:spMkLst>
            <pc:docMk/>
            <pc:sldMk cId="1850745899" sldId="259"/>
            <ac:spMk id="79" creationId="{00000000-0000-0000-0000-000000000000}"/>
          </ac:spMkLst>
        </pc:spChg>
        <pc:spChg chg="mod">
          <ac:chgData name="Jeanette Sim" userId="e4f2e74b-e4c1-4a64-ac84-f06fd666feef" providerId="ADAL" clId="{3D6ED44D-C95C-4316-B7FB-0A5C882F3F7F}" dt="2026-04-08T09:15:51.993" v="11" actId="6549"/>
          <ac:spMkLst>
            <pc:docMk/>
            <pc:sldMk cId="1850745899" sldId="259"/>
            <ac:spMk id="208" creationId="{348EA769-087B-012E-2E00-9E543A778F82}"/>
          </ac:spMkLst>
        </pc:spChg>
        <pc:spChg chg="mod">
          <ac:chgData name="Jeanette Sim" userId="e4f2e74b-e4c1-4a64-ac84-f06fd666feef" providerId="ADAL" clId="{3D6ED44D-C95C-4316-B7FB-0A5C882F3F7F}" dt="2026-04-08T09:23:01.286" v="31" actId="20577"/>
          <ac:spMkLst>
            <pc:docMk/>
            <pc:sldMk cId="1850745899" sldId="259"/>
            <ac:spMk id="244" creationId="{64A68A3D-C3B8-262E-3A94-880D83D20B44}"/>
          </ac:spMkLst>
        </pc:spChg>
        <pc:spChg chg="mod">
          <ac:chgData name="Jeanette Sim" userId="e4f2e74b-e4c1-4a64-ac84-f06fd666feef" providerId="ADAL" clId="{3D6ED44D-C95C-4316-B7FB-0A5C882F3F7F}" dt="2026-04-08T09:23:23.446" v="49" actId="20577"/>
          <ac:spMkLst>
            <pc:docMk/>
            <pc:sldMk cId="1850745899" sldId="259"/>
            <ac:spMk id="247" creationId="{0D5BF557-B607-C457-AB16-D1134C788D5C}"/>
          </ac:spMkLst>
        </pc:spChg>
        <pc:spChg chg="mod">
          <ac:chgData name="Jeanette Sim" userId="e4f2e74b-e4c1-4a64-ac84-f06fd666feef" providerId="ADAL" clId="{3D6ED44D-C95C-4316-B7FB-0A5C882F3F7F}" dt="2026-04-08T09:41:01.667" v="301" actId="1076"/>
          <ac:spMkLst>
            <pc:docMk/>
            <pc:sldMk cId="1850745899" sldId="259"/>
            <ac:spMk id="248" creationId="{B9E8DC38-FD83-E09A-DC43-39950B235F34}"/>
          </ac:spMkLst>
        </pc:spChg>
        <pc:spChg chg="mod">
          <ac:chgData name="Jeanette Sim" userId="e4f2e74b-e4c1-4a64-ac84-f06fd666feef" providerId="ADAL" clId="{3D6ED44D-C95C-4316-B7FB-0A5C882F3F7F}" dt="2026-04-08T09:43:38.017" v="412" actId="20577"/>
          <ac:spMkLst>
            <pc:docMk/>
            <pc:sldMk cId="1850745899" sldId="259"/>
            <ac:spMk id="251" creationId="{3413AF70-8244-A1EF-8476-6CC916F744E0}"/>
          </ac:spMkLst>
        </pc:spChg>
        <pc:spChg chg="mod">
          <ac:chgData name="Jeanette Sim" userId="e4f2e74b-e4c1-4a64-ac84-f06fd666feef" providerId="ADAL" clId="{3D6ED44D-C95C-4316-B7FB-0A5C882F3F7F}" dt="2026-04-08T09:45:16.537" v="507" actId="20577"/>
          <ac:spMkLst>
            <pc:docMk/>
            <pc:sldMk cId="1850745899" sldId="259"/>
            <ac:spMk id="253" creationId="{FAA7E5E7-553E-2576-C79B-5E1F0AA7EB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0CFE4-BA36-4D38-97D0-39A1BB2AEDBB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BC71D-6651-494D-BD2B-1D9B1E4BFF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00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BC71D-6651-494D-BD2B-1D9B1E4BFF8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24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BC71D-6651-494D-BD2B-1D9B1E4BFF8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06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3501669"/>
            <a:ext cx="25727184" cy="7449091"/>
          </a:xfrm>
        </p:spPr>
        <p:txBody>
          <a:bodyPr anchor="b"/>
          <a:lstStyle>
            <a:lvl1pPr algn="ctr"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11238025"/>
            <a:ext cx="22700456" cy="5165824"/>
          </a:xfrm>
        </p:spPr>
        <p:txBody>
          <a:bodyPr/>
          <a:lstStyle>
            <a:lvl1pPr marL="0" indent="0" algn="ctr">
              <a:buNone/>
              <a:defRPr sz="7488"/>
            </a:lvl1pPr>
            <a:lvl2pPr marL="1426418" indent="0" algn="ctr">
              <a:buNone/>
              <a:defRPr sz="6240"/>
            </a:lvl2pPr>
            <a:lvl3pPr marL="2852837" indent="0" algn="ctr">
              <a:buNone/>
              <a:defRPr sz="5616"/>
            </a:lvl3pPr>
            <a:lvl4pPr marL="4279255" indent="0" algn="ctr">
              <a:buNone/>
              <a:defRPr sz="4992"/>
            </a:lvl4pPr>
            <a:lvl5pPr marL="5705673" indent="0" algn="ctr">
              <a:buNone/>
              <a:defRPr sz="4992"/>
            </a:lvl5pPr>
            <a:lvl6pPr marL="7132091" indent="0" algn="ctr">
              <a:buNone/>
              <a:defRPr sz="4992"/>
            </a:lvl6pPr>
            <a:lvl7pPr marL="8558510" indent="0" algn="ctr">
              <a:buNone/>
              <a:defRPr sz="4992"/>
            </a:lvl7pPr>
            <a:lvl8pPr marL="9984928" indent="0" algn="ctr">
              <a:buNone/>
              <a:defRPr sz="4992"/>
            </a:lvl8pPr>
            <a:lvl9pPr marL="11411346" indent="0" algn="ctr">
              <a:buNone/>
              <a:defRPr sz="49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9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0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5334229"/>
            <a:ext cx="26105525" cy="8900275"/>
          </a:xfrm>
        </p:spPr>
        <p:txBody>
          <a:bodyPr anchor="b"/>
          <a:lstStyle>
            <a:lvl1pPr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14318704"/>
            <a:ext cx="26105525" cy="4680445"/>
          </a:xfrm>
        </p:spPr>
        <p:txBody>
          <a:bodyPr/>
          <a:lstStyle>
            <a:lvl1pPr marL="0" indent="0">
              <a:buNone/>
              <a:defRPr sz="7488">
                <a:solidFill>
                  <a:schemeClr val="tx1"/>
                </a:solidFill>
              </a:defRPr>
            </a:lvl1pPr>
            <a:lvl2pPr marL="1426418" indent="0">
              <a:buNone/>
              <a:defRPr sz="6240">
                <a:solidFill>
                  <a:schemeClr val="tx1">
                    <a:tint val="75000"/>
                  </a:schemeClr>
                </a:solidFill>
              </a:defRPr>
            </a:lvl2pPr>
            <a:lvl3pPr marL="2852837" indent="0">
              <a:buNone/>
              <a:defRPr sz="5616">
                <a:solidFill>
                  <a:schemeClr val="tx1">
                    <a:tint val="75000"/>
                  </a:schemeClr>
                </a:solidFill>
              </a:defRPr>
            </a:lvl3pPr>
            <a:lvl4pPr marL="4279255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4pPr>
            <a:lvl5pPr marL="5705673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5pPr>
            <a:lvl6pPr marL="7132091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6pPr>
            <a:lvl7pPr marL="8558510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7pPr>
            <a:lvl8pPr marL="9984928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8pPr>
            <a:lvl9pPr marL="11411346" indent="0">
              <a:buNone/>
              <a:defRPr sz="4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9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2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139161"/>
            <a:ext cx="26105525" cy="41356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5245073"/>
            <a:ext cx="1280447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7815602"/>
            <a:ext cx="12804474" cy="114955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5245073"/>
            <a:ext cx="1286753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7815602"/>
            <a:ext cx="12867534" cy="114955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6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90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0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3080679"/>
            <a:ext cx="15322808" cy="15205259"/>
          </a:xfrm>
        </p:spPr>
        <p:txBody>
          <a:bodyPr/>
          <a:lstStyle>
            <a:lvl1pPr>
              <a:defRPr sz="9984"/>
            </a:lvl1pPr>
            <a:lvl2pPr>
              <a:defRPr sz="8736"/>
            </a:lvl2pPr>
            <a:lvl3pPr>
              <a:defRPr sz="7488"/>
            </a:lvl3pPr>
            <a:lvl4pPr>
              <a:defRPr sz="6240"/>
            </a:lvl4pPr>
            <a:lvl5pPr>
              <a:defRPr sz="6240"/>
            </a:lvl5pPr>
            <a:lvl6pPr>
              <a:defRPr sz="6240"/>
            </a:lvl6pPr>
            <a:lvl7pPr>
              <a:defRPr sz="6240"/>
            </a:lvl7pPr>
            <a:lvl8pPr>
              <a:defRPr sz="6240"/>
            </a:lvl8pPr>
            <a:lvl9pPr>
              <a:defRPr sz="62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5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3080679"/>
            <a:ext cx="15322808" cy="15205259"/>
          </a:xfrm>
        </p:spPr>
        <p:txBody>
          <a:bodyPr anchor="t"/>
          <a:lstStyle>
            <a:lvl1pPr marL="0" indent="0">
              <a:buNone/>
              <a:defRPr sz="9984"/>
            </a:lvl1pPr>
            <a:lvl2pPr marL="1426418" indent="0">
              <a:buNone/>
              <a:defRPr sz="8736"/>
            </a:lvl2pPr>
            <a:lvl3pPr marL="2852837" indent="0">
              <a:buNone/>
              <a:defRPr sz="7488"/>
            </a:lvl3pPr>
            <a:lvl4pPr marL="4279255" indent="0">
              <a:buNone/>
              <a:defRPr sz="6240"/>
            </a:lvl4pPr>
            <a:lvl5pPr marL="5705673" indent="0">
              <a:buNone/>
              <a:defRPr sz="6240"/>
            </a:lvl5pPr>
            <a:lvl6pPr marL="7132091" indent="0">
              <a:buNone/>
              <a:defRPr sz="6240"/>
            </a:lvl6pPr>
            <a:lvl7pPr marL="8558510" indent="0">
              <a:buNone/>
              <a:defRPr sz="6240"/>
            </a:lvl7pPr>
            <a:lvl8pPr marL="9984928" indent="0">
              <a:buNone/>
              <a:defRPr sz="6240"/>
            </a:lvl8pPr>
            <a:lvl9pPr marL="11411346" indent="0">
              <a:buNone/>
              <a:defRPr sz="6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5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0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1139156"/>
            <a:ext cx="6526381" cy="181323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1139156"/>
            <a:ext cx="19200803" cy="181323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7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5023" y="4431154"/>
            <a:ext cx="12863592" cy="305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0046" y="8083056"/>
            <a:ext cx="10593546" cy="3645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56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13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69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26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83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539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9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053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25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48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453" y="9166081"/>
            <a:ext cx="12863592" cy="2833032"/>
          </a:xfrm>
        </p:spPr>
        <p:txBody>
          <a:bodyPr anchor="t"/>
          <a:lstStyle>
            <a:lvl1pPr algn="l">
              <a:defRPr sz="66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5453" y="6045785"/>
            <a:ext cx="12863592" cy="3120296"/>
          </a:xfrm>
        </p:spPr>
        <p:txBody>
          <a:bodyPr anchor="b"/>
          <a:lstStyle>
            <a:lvl1pPr marL="0" indent="0">
              <a:buNone/>
              <a:defRPr sz="3310">
                <a:solidFill>
                  <a:schemeClr val="tx1">
                    <a:tint val="75000"/>
                  </a:schemeClr>
                </a:solidFill>
              </a:defRPr>
            </a:lvl1pPr>
            <a:lvl2pPr marL="756666" indent="0">
              <a:buNone/>
              <a:defRPr sz="2979">
                <a:solidFill>
                  <a:schemeClr val="tx1">
                    <a:tint val="75000"/>
                  </a:schemeClr>
                </a:solidFill>
              </a:defRPr>
            </a:lvl2pPr>
            <a:lvl3pPr marL="1513332" indent="0">
              <a:buNone/>
              <a:defRPr sz="2648">
                <a:solidFill>
                  <a:schemeClr val="tx1">
                    <a:tint val="75000"/>
                  </a:schemeClr>
                </a:solidFill>
              </a:defRPr>
            </a:lvl3pPr>
            <a:lvl4pPr marL="2269998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4pPr>
            <a:lvl5pPr marL="3026664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5pPr>
            <a:lvl6pPr marL="3783330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6pPr>
            <a:lvl7pPr marL="4539996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7pPr>
            <a:lvl8pPr marL="5296662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8pPr>
            <a:lvl9pPr marL="6053328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5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682" y="3328318"/>
            <a:ext cx="6684023" cy="9413724"/>
          </a:xfrm>
        </p:spPr>
        <p:txBody>
          <a:bodyPr/>
          <a:lstStyle>
            <a:lvl1pPr>
              <a:defRPr sz="4634"/>
            </a:lvl1pPr>
            <a:lvl2pPr>
              <a:defRPr sz="3972"/>
            </a:lvl2pPr>
            <a:lvl3pPr>
              <a:defRPr sz="3310"/>
            </a:lvl3pPr>
            <a:lvl4pPr>
              <a:defRPr sz="2979"/>
            </a:lvl4pPr>
            <a:lvl5pPr>
              <a:defRPr sz="2979"/>
            </a:lvl5pPr>
            <a:lvl6pPr>
              <a:defRPr sz="2979"/>
            </a:lvl6pPr>
            <a:lvl7pPr>
              <a:defRPr sz="2979"/>
            </a:lvl7pPr>
            <a:lvl8pPr>
              <a:defRPr sz="2979"/>
            </a:lvl8pPr>
            <a:lvl9pPr>
              <a:defRPr sz="2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2933" y="3328318"/>
            <a:ext cx="6684023" cy="9413724"/>
          </a:xfrm>
        </p:spPr>
        <p:txBody>
          <a:bodyPr/>
          <a:lstStyle>
            <a:lvl1pPr>
              <a:defRPr sz="4634"/>
            </a:lvl1pPr>
            <a:lvl2pPr>
              <a:defRPr sz="3972"/>
            </a:lvl2pPr>
            <a:lvl3pPr>
              <a:defRPr sz="3310"/>
            </a:lvl3pPr>
            <a:lvl4pPr>
              <a:defRPr sz="2979"/>
            </a:lvl4pPr>
            <a:lvl5pPr>
              <a:defRPr sz="2979"/>
            </a:lvl5pPr>
            <a:lvl6pPr>
              <a:defRPr sz="2979"/>
            </a:lvl6pPr>
            <a:lvl7pPr>
              <a:defRPr sz="2979"/>
            </a:lvl7pPr>
            <a:lvl8pPr>
              <a:defRPr sz="2979"/>
            </a:lvl8pPr>
            <a:lvl9pPr>
              <a:defRPr sz="2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20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682" y="3192941"/>
            <a:ext cx="6686651" cy="1330665"/>
          </a:xfrm>
        </p:spPr>
        <p:txBody>
          <a:bodyPr anchor="b"/>
          <a:lstStyle>
            <a:lvl1pPr marL="0" indent="0">
              <a:buNone/>
              <a:defRPr sz="3972" b="1"/>
            </a:lvl1pPr>
            <a:lvl2pPr marL="756666" indent="0">
              <a:buNone/>
              <a:defRPr sz="3310" b="1"/>
            </a:lvl2pPr>
            <a:lvl3pPr marL="1513332" indent="0">
              <a:buNone/>
              <a:defRPr sz="2979" b="1"/>
            </a:lvl3pPr>
            <a:lvl4pPr marL="2269998" indent="0">
              <a:buNone/>
              <a:defRPr sz="2648" b="1"/>
            </a:lvl4pPr>
            <a:lvl5pPr marL="3026664" indent="0">
              <a:buNone/>
              <a:defRPr sz="2648" b="1"/>
            </a:lvl5pPr>
            <a:lvl6pPr marL="3783330" indent="0">
              <a:buNone/>
              <a:defRPr sz="2648" b="1"/>
            </a:lvl6pPr>
            <a:lvl7pPr marL="4539996" indent="0">
              <a:buNone/>
              <a:defRPr sz="2648" b="1"/>
            </a:lvl7pPr>
            <a:lvl8pPr marL="5296662" indent="0">
              <a:buNone/>
              <a:defRPr sz="2648" b="1"/>
            </a:lvl8pPr>
            <a:lvl9pPr marL="6053328" indent="0">
              <a:buNone/>
              <a:defRPr sz="26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682" y="4523606"/>
            <a:ext cx="6686651" cy="8218435"/>
          </a:xfrm>
        </p:spPr>
        <p:txBody>
          <a:bodyPr/>
          <a:lstStyle>
            <a:lvl1pPr>
              <a:defRPr sz="3972"/>
            </a:lvl1pPr>
            <a:lvl2pPr>
              <a:defRPr sz="3310"/>
            </a:lvl2pPr>
            <a:lvl3pPr>
              <a:defRPr sz="2979"/>
            </a:lvl3pPr>
            <a:lvl4pPr>
              <a:defRPr sz="2648"/>
            </a:lvl4pPr>
            <a:lvl5pPr>
              <a:defRPr sz="2648"/>
            </a:lvl5pPr>
            <a:lvl6pPr>
              <a:defRPr sz="2648"/>
            </a:lvl6pPr>
            <a:lvl7pPr>
              <a:defRPr sz="2648"/>
            </a:lvl7pPr>
            <a:lvl8pPr>
              <a:defRPr sz="2648"/>
            </a:lvl8pPr>
            <a:lvl9pPr>
              <a:defRPr sz="26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7678" y="3192941"/>
            <a:ext cx="6689278" cy="1330665"/>
          </a:xfrm>
        </p:spPr>
        <p:txBody>
          <a:bodyPr anchor="b"/>
          <a:lstStyle>
            <a:lvl1pPr marL="0" indent="0">
              <a:buNone/>
              <a:defRPr sz="3972" b="1"/>
            </a:lvl1pPr>
            <a:lvl2pPr marL="756666" indent="0">
              <a:buNone/>
              <a:defRPr sz="3310" b="1"/>
            </a:lvl2pPr>
            <a:lvl3pPr marL="1513332" indent="0">
              <a:buNone/>
              <a:defRPr sz="2979" b="1"/>
            </a:lvl3pPr>
            <a:lvl4pPr marL="2269998" indent="0">
              <a:buNone/>
              <a:defRPr sz="2648" b="1"/>
            </a:lvl4pPr>
            <a:lvl5pPr marL="3026664" indent="0">
              <a:buNone/>
              <a:defRPr sz="2648" b="1"/>
            </a:lvl5pPr>
            <a:lvl6pPr marL="3783330" indent="0">
              <a:buNone/>
              <a:defRPr sz="2648" b="1"/>
            </a:lvl6pPr>
            <a:lvl7pPr marL="4539996" indent="0">
              <a:buNone/>
              <a:defRPr sz="2648" b="1"/>
            </a:lvl7pPr>
            <a:lvl8pPr marL="5296662" indent="0">
              <a:buNone/>
              <a:defRPr sz="2648" b="1"/>
            </a:lvl8pPr>
            <a:lvl9pPr marL="6053328" indent="0">
              <a:buNone/>
              <a:defRPr sz="26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87678" y="4523606"/>
            <a:ext cx="6689278" cy="8218435"/>
          </a:xfrm>
        </p:spPr>
        <p:txBody>
          <a:bodyPr/>
          <a:lstStyle>
            <a:lvl1pPr>
              <a:defRPr sz="3972"/>
            </a:lvl1pPr>
            <a:lvl2pPr>
              <a:defRPr sz="3310"/>
            </a:lvl2pPr>
            <a:lvl3pPr>
              <a:defRPr sz="2979"/>
            </a:lvl3pPr>
            <a:lvl4pPr>
              <a:defRPr sz="2648"/>
            </a:lvl4pPr>
            <a:lvl5pPr>
              <a:defRPr sz="2648"/>
            </a:lvl5pPr>
            <a:lvl6pPr>
              <a:defRPr sz="2648"/>
            </a:lvl6pPr>
            <a:lvl7pPr>
              <a:defRPr sz="2648"/>
            </a:lvl7pPr>
            <a:lvl8pPr>
              <a:defRPr sz="2648"/>
            </a:lvl8pPr>
            <a:lvl9pPr>
              <a:defRPr sz="264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0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4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67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683" y="567927"/>
            <a:ext cx="4978862" cy="2416992"/>
          </a:xfrm>
        </p:spPr>
        <p:txBody>
          <a:bodyPr anchor="b"/>
          <a:lstStyle>
            <a:lvl1pPr algn="l">
              <a:defRPr sz="33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6832" y="567928"/>
            <a:ext cx="8460124" cy="12174114"/>
          </a:xfrm>
        </p:spPr>
        <p:txBody>
          <a:bodyPr/>
          <a:lstStyle>
            <a:lvl1pPr>
              <a:defRPr sz="5296"/>
            </a:lvl1pPr>
            <a:lvl2pPr>
              <a:defRPr sz="4634"/>
            </a:lvl2pPr>
            <a:lvl3pPr>
              <a:defRPr sz="3972"/>
            </a:lvl3pPr>
            <a:lvl4pPr>
              <a:defRPr sz="3310"/>
            </a:lvl4pPr>
            <a:lvl5pPr>
              <a:defRPr sz="3310"/>
            </a:lvl5pPr>
            <a:lvl6pPr>
              <a:defRPr sz="3310"/>
            </a:lvl6pPr>
            <a:lvl7pPr>
              <a:defRPr sz="3310"/>
            </a:lvl7pPr>
            <a:lvl8pPr>
              <a:defRPr sz="3310"/>
            </a:lvl8pPr>
            <a:lvl9pPr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683" y="2984921"/>
            <a:ext cx="4978862" cy="9757121"/>
          </a:xfrm>
        </p:spPr>
        <p:txBody>
          <a:bodyPr/>
          <a:lstStyle>
            <a:lvl1pPr marL="0" indent="0">
              <a:buNone/>
              <a:defRPr sz="2317"/>
            </a:lvl1pPr>
            <a:lvl2pPr marL="756666" indent="0">
              <a:buNone/>
              <a:defRPr sz="1986"/>
            </a:lvl2pPr>
            <a:lvl3pPr marL="1513332" indent="0">
              <a:buNone/>
              <a:defRPr sz="1655"/>
            </a:lvl3pPr>
            <a:lvl4pPr marL="2269998" indent="0">
              <a:buNone/>
              <a:defRPr sz="1490"/>
            </a:lvl4pPr>
            <a:lvl5pPr marL="3026664" indent="0">
              <a:buNone/>
              <a:defRPr sz="1490"/>
            </a:lvl5pPr>
            <a:lvl6pPr marL="3783330" indent="0">
              <a:buNone/>
              <a:defRPr sz="1490"/>
            </a:lvl6pPr>
            <a:lvl7pPr marL="4539996" indent="0">
              <a:buNone/>
              <a:defRPr sz="1490"/>
            </a:lvl7pPr>
            <a:lvl8pPr marL="5296662" indent="0">
              <a:buNone/>
              <a:defRPr sz="1490"/>
            </a:lvl8pPr>
            <a:lvl9pPr marL="6053328" indent="0">
              <a:buNone/>
              <a:defRPr sz="14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77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6299" y="9984952"/>
            <a:ext cx="9080183" cy="1178780"/>
          </a:xfrm>
        </p:spPr>
        <p:txBody>
          <a:bodyPr anchor="b"/>
          <a:lstStyle>
            <a:lvl1pPr algn="l">
              <a:defRPr sz="33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66299" y="1274534"/>
            <a:ext cx="9080183" cy="8558530"/>
          </a:xfrm>
        </p:spPr>
        <p:txBody>
          <a:bodyPr/>
          <a:lstStyle>
            <a:lvl1pPr marL="0" indent="0">
              <a:buNone/>
              <a:defRPr sz="5296"/>
            </a:lvl1pPr>
            <a:lvl2pPr marL="756666" indent="0">
              <a:buNone/>
              <a:defRPr sz="4634"/>
            </a:lvl2pPr>
            <a:lvl3pPr marL="1513332" indent="0">
              <a:buNone/>
              <a:defRPr sz="3972"/>
            </a:lvl3pPr>
            <a:lvl4pPr marL="2269998" indent="0">
              <a:buNone/>
              <a:defRPr sz="3310"/>
            </a:lvl4pPr>
            <a:lvl5pPr marL="3026664" indent="0">
              <a:buNone/>
              <a:defRPr sz="3310"/>
            </a:lvl5pPr>
            <a:lvl6pPr marL="3783330" indent="0">
              <a:buNone/>
              <a:defRPr sz="3310"/>
            </a:lvl6pPr>
            <a:lvl7pPr marL="4539996" indent="0">
              <a:buNone/>
              <a:defRPr sz="3310"/>
            </a:lvl7pPr>
            <a:lvl8pPr marL="5296662" indent="0">
              <a:buNone/>
              <a:defRPr sz="3310"/>
            </a:lvl8pPr>
            <a:lvl9pPr marL="6053328" indent="0">
              <a:buNone/>
              <a:defRPr sz="33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6299" y="11163732"/>
            <a:ext cx="9080183" cy="1674063"/>
          </a:xfrm>
        </p:spPr>
        <p:txBody>
          <a:bodyPr/>
          <a:lstStyle>
            <a:lvl1pPr marL="0" indent="0">
              <a:buNone/>
              <a:defRPr sz="2317"/>
            </a:lvl1pPr>
            <a:lvl2pPr marL="756666" indent="0">
              <a:buNone/>
              <a:defRPr sz="1986"/>
            </a:lvl2pPr>
            <a:lvl3pPr marL="1513332" indent="0">
              <a:buNone/>
              <a:defRPr sz="1655"/>
            </a:lvl3pPr>
            <a:lvl4pPr marL="2269998" indent="0">
              <a:buNone/>
              <a:defRPr sz="1490"/>
            </a:lvl4pPr>
            <a:lvl5pPr marL="3026664" indent="0">
              <a:buNone/>
              <a:defRPr sz="1490"/>
            </a:lvl5pPr>
            <a:lvl6pPr marL="3783330" indent="0">
              <a:buNone/>
              <a:defRPr sz="1490"/>
            </a:lvl6pPr>
            <a:lvl7pPr marL="4539996" indent="0">
              <a:buNone/>
              <a:defRPr sz="1490"/>
            </a:lvl7pPr>
            <a:lvl8pPr marL="5296662" indent="0">
              <a:buNone/>
              <a:defRPr sz="1490"/>
            </a:lvl8pPr>
            <a:lvl9pPr marL="6053328" indent="0">
              <a:buNone/>
              <a:defRPr sz="14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65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50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71887" y="571231"/>
            <a:ext cx="3405068" cy="121708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6682" y="571231"/>
            <a:ext cx="9962978" cy="121708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1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1139161"/>
            <a:ext cx="26105525" cy="4135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5695781"/>
            <a:ext cx="26105525" cy="13575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C2452-5B34-4EA1-90F6-65C454BAA5B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19831228"/>
            <a:ext cx="10215205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F139-48E9-4583-98AF-FC2267DFC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7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2837" rtl="0" eaLnBrk="1" latinLnBrk="0" hangingPunct="1">
        <a:lnSpc>
          <a:spcPct val="90000"/>
        </a:lnSpc>
        <a:spcBef>
          <a:spcPct val="0"/>
        </a:spcBef>
        <a:buNone/>
        <a:defRPr sz="13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3209" indent="-713209" algn="l" defTabSz="2852837" rtl="0" eaLnBrk="1" latinLnBrk="0" hangingPunct="1">
        <a:lnSpc>
          <a:spcPct val="90000"/>
        </a:lnSpc>
        <a:spcBef>
          <a:spcPts val="3120"/>
        </a:spcBef>
        <a:buFont typeface="Arial" panose="020B0604020202020204" pitchFamily="34" charset="0"/>
        <a:buChar char="•"/>
        <a:defRPr sz="8736" kern="1200">
          <a:solidFill>
            <a:schemeClr val="tx1"/>
          </a:solidFill>
          <a:latin typeface="+mn-lt"/>
          <a:ea typeface="+mn-ea"/>
          <a:cs typeface="+mn-cs"/>
        </a:defRPr>
      </a:lvl1pPr>
      <a:lvl2pPr marL="213962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7488" kern="1200">
          <a:solidFill>
            <a:schemeClr val="tx1"/>
          </a:solidFill>
          <a:latin typeface="+mn-lt"/>
          <a:ea typeface="+mn-ea"/>
          <a:cs typeface="+mn-cs"/>
        </a:defRPr>
      </a:lvl2pPr>
      <a:lvl3pPr marL="3566046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3pPr>
      <a:lvl4pPr marL="4992464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6418882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845301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9271719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1069813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2124555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1pPr>
      <a:lvl2pPr marL="142641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852837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3pPr>
      <a:lvl4pPr marL="4279255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5705673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132091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855851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998492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1411346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682" y="571230"/>
            <a:ext cx="13620274" cy="2377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682" y="3328318"/>
            <a:ext cx="13620274" cy="9413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682" y="13220817"/>
            <a:ext cx="3531182" cy="759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70659" y="13220817"/>
            <a:ext cx="4792319" cy="759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5774" y="13220817"/>
            <a:ext cx="3531182" cy="759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4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513332" rtl="0" eaLnBrk="1" latinLnBrk="0" hangingPunct="1">
        <a:spcBef>
          <a:spcPct val="0"/>
        </a:spcBef>
        <a:buNone/>
        <a:defRPr sz="72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500" indent="-567500" algn="l" defTabSz="1513332" rtl="0" eaLnBrk="1" latinLnBrk="0" hangingPunct="1">
        <a:spcBef>
          <a:spcPct val="20000"/>
        </a:spcBef>
        <a:buFont typeface="Arial" pitchFamily="34" charset="0"/>
        <a:buChar char="•"/>
        <a:defRPr sz="5296" kern="1200">
          <a:solidFill>
            <a:schemeClr val="tx1"/>
          </a:solidFill>
          <a:latin typeface="+mn-lt"/>
          <a:ea typeface="+mn-ea"/>
          <a:cs typeface="+mn-cs"/>
        </a:defRPr>
      </a:lvl1pPr>
      <a:lvl2pPr marL="1229582" indent="-472916" algn="l" defTabSz="1513332" rtl="0" eaLnBrk="1" latinLnBrk="0" hangingPunct="1">
        <a:spcBef>
          <a:spcPct val="20000"/>
        </a:spcBef>
        <a:buFont typeface="Arial" pitchFamily="34" charset="0"/>
        <a:buChar char="–"/>
        <a:defRPr sz="4634" kern="1200">
          <a:solidFill>
            <a:schemeClr val="tx1"/>
          </a:solidFill>
          <a:latin typeface="+mn-lt"/>
          <a:ea typeface="+mn-ea"/>
          <a:cs typeface="+mn-cs"/>
        </a:defRPr>
      </a:lvl2pPr>
      <a:lvl3pPr marL="1891665" indent="-378333" algn="l" defTabSz="1513332" rtl="0" eaLnBrk="1" latinLnBrk="0" hangingPunct="1">
        <a:spcBef>
          <a:spcPct val="20000"/>
        </a:spcBef>
        <a:buFont typeface="Arial" pitchFamily="34" charset="0"/>
        <a:buChar char="•"/>
        <a:defRPr sz="3972" kern="1200">
          <a:solidFill>
            <a:schemeClr val="tx1"/>
          </a:solidFill>
          <a:latin typeface="+mn-lt"/>
          <a:ea typeface="+mn-ea"/>
          <a:cs typeface="+mn-cs"/>
        </a:defRPr>
      </a:lvl3pPr>
      <a:lvl4pPr marL="2648331" indent="-378333" algn="l" defTabSz="1513332" rtl="0" eaLnBrk="1" latinLnBrk="0" hangingPunct="1">
        <a:spcBef>
          <a:spcPct val="20000"/>
        </a:spcBef>
        <a:buFont typeface="Arial" pitchFamily="34" charset="0"/>
        <a:buChar char="–"/>
        <a:defRPr sz="3310" kern="1200">
          <a:solidFill>
            <a:schemeClr val="tx1"/>
          </a:solidFill>
          <a:latin typeface="+mn-lt"/>
          <a:ea typeface="+mn-ea"/>
          <a:cs typeface="+mn-cs"/>
        </a:defRPr>
      </a:lvl4pPr>
      <a:lvl5pPr marL="3404997" indent="-378333" algn="l" defTabSz="1513332" rtl="0" eaLnBrk="1" latinLnBrk="0" hangingPunct="1">
        <a:spcBef>
          <a:spcPct val="20000"/>
        </a:spcBef>
        <a:buFont typeface="Arial" pitchFamily="34" charset="0"/>
        <a:buChar char="»"/>
        <a:defRPr sz="3310" kern="1200">
          <a:solidFill>
            <a:schemeClr val="tx1"/>
          </a:solidFill>
          <a:latin typeface="+mn-lt"/>
          <a:ea typeface="+mn-ea"/>
          <a:cs typeface="+mn-cs"/>
        </a:defRPr>
      </a:lvl5pPr>
      <a:lvl6pPr marL="4161663" indent="-378333" algn="l" defTabSz="1513332" rtl="0" eaLnBrk="1" latinLnBrk="0" hangingPunct="1">
        <a:spcBef>
          <a:spcPct val="20000"/>
        </a:spcBef>
        <a:buFont typeface="Arial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6pPr>
      <a:lvl7pPr marL="4918329" indent="-378333" algn="l" defTabSz="1513332" rtl="0" eaLnBrk="1" latinLnBrk="0" hangingPunct="1">
        <a:spcBef>
          <a:spcPct val="20000"/>
        </a:spcBef>
        <a:buFont typeface="Arial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7pPr>
      <a:lvl8pPr marL="5674995" indent="-378333" algn="l" defTabSz="1513332" rtl="0" eaLnBrk="1" latinLnBrk="0" hangingPunct="1">
        <a:spcBef>
          <a:spcPct val="20000"/>
        </a:spcBef>
        <a:buFont typeface="Arial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8pPr>
      <a:lvl9pPr marL="6431661" indent="-378333" algn="l" defTabSz="1513332" rtl="0" eaLnBrk="1" latinLnBrk="0" hangingPunct="1">
        <a:spcBef>
          <a:spcPct val="20000"/>
        </a:spcBef>
        <a:buFont typeface="Arial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1pPr>
      <a:lvl2pPr marL="756666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2pPr>
      <a:lvl3pPr marL="1513332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3pPr>
      <a:lvl4pPr marL="2269998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4pPr>
      <a:lvl5pPr marL="3026664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5pPr>
      <a:lvl6pPr marL="3783330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6pPr>
      <a:lvl7pPr marL="4539996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7pPr>
      <a:lvl8pPr marL="5296662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8pPr>
      <a:lvl9pPr marL="6053328" algn="l" defTabSz="1513332" rtl="0" eaLnBrk="1" latinLnBrk="0" hangingPunct="1">
        <a:defRPr sz="29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svg"/><Relationship Id="rId18" Type="http://schemas.microsoft.com/office/2007/relationships/hdphoto" Target="../media/hdphoto1.wdp"/><Relationship Id="rId3" Type="http://schemas.openxmlformats.org/officeDocument/2006/relationships/image" Target="../media/image1.png"/><Relationship Id="rId21" Type="http://schemas.microsoft.com/office/2007/relationships/hdphoto" Target="../media/hdphoto2.wdp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jpeg"/><Relationship Id="rId19" Type="http://schemas.openxmlformats.org/officeDocument/2006/relationships/image" Target="../media/image16.svg"/><Relationship Id="rId4" Type="http://schemas.openxmlformats.org/officeDocument/2006/relationships/image" Target="../media/image2.svg"/><Relationship Id="rId9" Type="http://schemas.openxmlformats.org/officeDocument/2006/relationships/image" Target="../media/image7.jpe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8.png"/><Relationship Id="rId7" Type="http://schemas.openxmlformats.org/officeDocument/2006/relationships/image" Target="../media/image14.svg"/><Relationship Id="rId12" Type="http://schemas.openxmlformats.org/officeDocument/2006/relationships/image" Target="../media/image24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svg"/><Relationship Id="rId11" Type="http://schemas.openxmlformats.org/officeDocument/2006/relationships/image" Target="../media/image23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9.jpe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26.png"/><Relationship Id="rId4" Type="http://schemas.openxmlformats.org/officeDocument/2006/relationships/image" Target="../media/image2.sv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5114F-E70B-4E37-A559-AF41486F9549}"/>
              </a:ext>
            </a:extLst>
          </p:cNvPr>
          <p:cNvSpPr/>
          <p:nvPr/>
        </p:nvSpPr>
        <p:spPr>
          <a:xfrm>
            <a:off x="359952" y="360000"/>
            <a:ext cx="29548845" cy="2408858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0"/>
          </a:p>
        </p:txBody>
      </p:sp>
      <p:pic>
        <p:nvPicPr>
          <p:cNvPr id="5" name="Google Shape;192;p43">
            <a:extLst>
              <a:ext uri="{FF2B5EF4-FFF2-40B4-BE49-F238E27FC236}">
                <a16:creationId xmlns:a16="http://schemas.microsoft.com/office/drawing/2014/main" id="{F6E1938C-9923-4356-A8E5-5FB6425CD488}"/>
              </a:ext>
            </a:extLst>
          </p:cNvPr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601" y="961620"/>
            <a:ext cx="5251034" cy="113325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4A339B-1A22-4AA5-B724-F6CF402FE616}"/>
              </a:ext>
            </a:extLst>
          </p:cNvPr>
          <p:cNvSpPr txBox="1"/>
          <p:nvPr/>
        </p:nvSpPr>
        <p:spPr>
          <a:xfrm>
            <a:off x="805780" y="537750"/>
            <a:ext cx="22575902" cy="198099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SG" sz="5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BoxBunny:</a:t>
            </a:r>
          </a:p>
          <a:p>
            <a:pPr>
              <a:lnSpc>
                <a:spcPct val="120000"/>
              </a:lnSpc>
            </a:pPr>
            <a:r>
              <a:rPr lang="en-SG" sz="5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Intelligent Boxing Trainer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BF5036-13CD-4174-BF4D-56EE4EE776CC}"/>
              </a:ext>
            </a:extLst>
          </p:cNvPr>
          <p:cNvSpPr/>
          <p:nvPr/>
        </p:nvSpPr>
        <p:spPr>
          <a:xfrm>
            <a:off x="403533" y="18410263"/>
            <a:ext cx="29503794" cy="1988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86042-B3CA-45B4-BBA6-D8AE047D0E1D}"/>
              </a:ext>
            </a:extLst>
          </p:cNvPr>
          <p:cNvSpPr txBox="1"/>
          <p:nvPr/>
        </p:nvSpPr>
        <p:spPr>
          <a:xfrm>
            <a:off x="805780" y="18539768"/>
            <a:ext cx="7832035" cy="16043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SG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Engineering Design and Innovation Centre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Block E2A #04-05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 Engineering Drive 2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Singapore 117579</a:t>
            </a:r>
          </a:p>
        </p:txBody>
      </p:sp>
      <p:pic>
        <p:nvPicPr>
          <p:cNvPr id="26" name="Content Placeholder 4" descr="Email outline">
            <a:extLst>
              <a:ext uri="{FF2B5EF4-FFF2-40B4-BE49-F238E27FC236}">
                <a16:creationId xmlns:a16="http://schemas.microsoft.com/office/drawing/2014/main" id="{D89B9444-F540-46F2-BB43-F44016CF9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39941" y="19426276"/>
            <a:ext cx="840817" cy="840817"/>
          </a:xfrm>
          <a:prstGeom prst="rect">
            <a:avLst/>
          </a:prstGeom>
        </p:spPr>
      </p:pic>
      <p:pic>
        <p:nvPicPr>
          <p:cNvPr id="27" name="Graphic 26" descr="Internet outline">
            <a:extLst>
              <a:ext uri="{FF2B5EF4-FFF2-40B4-BE49-F238E27FC236}">
                <a16:creationId xmlns:a16="http://schemas.microsoft.com/office/drawing/2014/main" id="{8E2EFEA5-6E39-4CB5-8222-5600E38BF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39941" y="18430924"/>
            <a:ext cx="840817" cy="840817"/>
          </a:xfrm>
          <a:prstGeom prst="rect">
            <a:avLst/>
          </a:prstGeom>
        </p:spPr>
      </p:pic>
      <p:sp>
        <p:nvSpPr>
          <p:cNvPr id="28" name="TextBox 14">
            <a:extLst>
              <a:ext uri="{FF2B5EF4-FFF2-40B4-BE49-F238E27FC236}">
                <a16:creationId xmlns:a16="http://schemas.microsoft.com/office/drawing/2014/main" id="{4A0BC775-0179-4BA5-8A4F-AF38E09A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5270" y="19492741"/>
            <a:ext cx="34936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Email:</a:t>
            </a:r>
          </a:p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idp-query@nus.edu.sg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0960DAA2-B05F-4258-840F-3EF07A73B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5270" y="18497389"/>
            <a:ext cx="38715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Website:</a:t>
            </a:r>
          </a:p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https://cde.nus.edu.sg/edic/</a:t>
            </a: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08183599-931E-44A0-865D-87076443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3674" y="18282588"/>
            <a:ext cx="1137489" cy="113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Instagram - Wikipedia">
            <a:extLst>
              <a:ext uri="{FF2B5EF4-FFF2-40B4-BE49-F238E27FC236}">
                <a16:creationId xmlns:a16="http://schemas.microsoft.com/office/drawing/2014/main" id="{EC00D1A7-2057-4C17-8D2F-2FA54BE5D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8554" y="19492820"/>
            <a:ext cx="707729" cy="70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Facebook Icon Logo Vector (.EPS) Free Download | Facebook icon vector,  Facebook icons, Facebook logo png">
            <a:extLst>
              <a:ext uri="{FF2B5EF4-FFF2-40B4-BE49-F238E27FC236}">
                <a16:creationId xmlns:a16="http://schemas.microsoft.com/office/drawing/2014/main" id="{C612C420-F982-4245-BFC7-0A1CF55EA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18591" r="18227" b="18232"/>
          <a:stretch/>
        </p:blipFill>
        <p:spPr bwMode="auto">
          <a:xfrm>
            <a:off x="24725408" y="18501559"/>
            <a:ext cx="707729" cy="69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YouTube is getting a new logo every week this month – here&amp;#39;s why | Creative  Bloq">
            <a:extLst>
              <a:ext uri="{FF2B5EF4-FFF2-40B4-BE49-F238E27FC236}">
                <a16:creationId xmlns:a16="http://schemas.microsoft.com/office/drawing/2014/main" id="{EEA2F329-BCF0-4A32-8B3B-01D1FCDA3B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9" t="33131" r="65520" b="33602"/>
          <a:stretch/>
        </p:blipFill>
        <p:spPr bwMode="auto">
          <a:xfrm>
            <a:off x="24725291" y="19604110"/>
            <a:ext cx="707963" cy="48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C0EC766-9804-40DB-9663-0F5DB659F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199" y="19646629"/>
            <a:ext cx="13122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01DC70-C208-4CBE-8AA6-D19FDB0B3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6421" y="18651277"/>
            <a:ext cx="13122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7BD8D7-B1B6-4F02-AD32-DA5FC9CB1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199" y="18497389"/>
            <a:ext cx="318080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 Innovation &amp; Design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Programme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407498-16C2-4FD3-AA1C-018DC54A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6421" y="19646629"/>
            <a:ext cx="1351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346917-CF16-DB96-E036-8869C515104C}"/>
              </a:ext>
            </a:extLst>
          </p:cNvPr>
          <p:cNvSpPr/>
          <p:nvPr/>
        </p:nvSpPr>
        <p:spPr>
          <a:xfrm>
            <a:off x="359950" y="20398931"/>
            <a:ext cx="29547377" cy="63739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cap="small" spc="100" dirty="0">
                <a:latin typeface="Verdana" panose="020B0604030504040204" pitchFamily="34" charset="0"/>
                <a:ea typeface="Verdana" panose="020B0604030504040204" pitchFamily="34" charset="0"/>
              </a:rPr>
              <a:t>Innovation &amp; Design Programme</a:t>
            </a:r>
          </a:p>
        </p:txBody>
      </p:sp>
      <p:sp>
        <p:nvSpPr>
          <p:cNvPr id="2" name="Freeform 2"/>
          <p:cNvSpPr/>
          <p:nvPr/>
        </p:nvSpPr>
        <p:spPr>
          <a:xfrm flipH="1">
            <a:off x="357010" y="2742510"/>
            <a:ext cx="29538484" cy="15754232"/>
          </a:xfrm>
          <a:custGeom>
            <a:avLst/>
            <a:gdLst/>
            <a:ahLst/>
            <a:cxnLst/>
            <a:rect l="l" t="t" r="r" b="b"/>
            <a:pathLst>
              <a:path w="18288000" h="9587818">
                <a:moveTo>
                  <a:pt x="18288000" y="0"/>
                </a:moveTo>
                <a:lnTo>
                  <a:pt x="0" y="0"/>
                </a:lnTo>
                <a:lnTo>
                  <a:pt x="0" y="9587819"/>
                </a:lnTo>
                <a:lnTo>
                  <a:pt x="18288000" y="9587819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0">
              <a:alphaModFix amt="19999"/>
            </a:blip>
            <a:stretch>
              <a:fillRect l="-5893" t="-8927" r="-8378" b="-36427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9785167" y="4330051"/>
            <a:ext cx="20078575" cy="14075395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Freeform 6"/>
          <p:cNvSpPr>
            <a:spLocks/>
          </p:cNvSpPr>
          <p:nvPr/>
        </p:nvSpPr>
        <p:spPr>
          <a:xfrm>
            <a:off x="9805681" y="4358157"/>
            <a:ext cx="20100174" cy="14029741"/>
          </a:xfrm>
          <a:custGeom>
            <a:avLst/>
            <a:gdLst/>
            <a:ahLst/>
            <a:cxnLst/>
            <a:rect l="l" t="t" r="r" b="b"/>
            <a:pathLst>
              <a:path w="12464648" h="8517655">
                <a:moveTo>
                  <a:pt x="0" y="0"/>
                </a:moveTo>
                <a:lnTo>
                  <a:pt x="12464648" y="0"/>
                </a:lnTo>
                <a:lnTo>
                  <a:pt x="12464648" y="8517655"/>
                </a:lnTo>
                <a:lnTo>
                  <a:pt x="0" y="85176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>
              <a:fillRect t="-25206" b="-21132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532150" y="10514219"/>
            <a:ext cx="9126179" cy="7882357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Freeform 9"/>
          <p:cNvSpPr/>
          <p:nvPr/>
        </p:nvSpPr>
        <p:spPr>
          <a:xfrm>
            <a:off x="3375889" y="4060025"/>
            <a:ext cx="3315182" cy="4875269"/>
          </a:xfrm>
          <a:custGeom>
            <a:avLst/>
            <a:gdLst/>
            <a:ahLst/>
            <a:cxnLst/>
            <a:rect l="l" t="t" r="r" b="b"/>
            <a:pathLst>
              <a:path w="2003089" h="2945720">
                <a:moveTo>
                  <a:pt x="0" y="0"/>
                </a:moveTo>
                <a:lnTo>
                  <a:pt x="2003089" y="0"/>
                </a:lnTo>
                <a:lnTo>
                  <a:pt x="2003089" y="2945720"/>
                </a:lnTo>
                <a:lnTo>
                  <a:pt x="0" y="294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AutoShape 10"/>
          <p:cNvSpPr/>
          <p:nvPr/>
        </p:nvSpPr>
        <p:spPr>
          <a:xfrm>
            <a:off x="532150" y="3302091"/>
            <a:ext cx="9126179" cy="6391137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7" name="Group 11"/>
          <p:cNvGrpSpPr/>
          <p:nvPr/>
        </p:nvGrpSpPr>
        <p:grpSpPr>
          <a:xfrm>
            <a:off x="907190" y="2829120"/>
            <a:ext cx="8315997" cy="946400"/>
            <a:chOff x="0" y="0"/>
            <a:chExt cx="1028624" cy="117062"/>
          </a:xfrm>
        </p:grpSpPr>
        <p:sp>
          <p:nvSpPr>
            <p:cNvPr id="18" name="Freeform 12"/>
            <p:cNvSpPr/>
            <p:nvPr/>
          </p:nvSpPr>
          <p:spPr>
            <a:xfrm>
              <a:off x="0" y="0"/>
              <a:ext cx="1028624" cy="117062"/>
            </a:xfrm>
            <a:custGeom>
              <a:avLst/>
              <a:gdLst/>
              <a:ahLst/>
              <a:cxnLst/>
              <a:rect l="l" t="t" r="r" b="b"/>
              <a:pathLst>
                <a:path w="1028624" h="117062">
                  <a:moveTo>
                    <a:pt x="29275" y="0"/>
                  </a:moveTo>
                  <a:lnTo>
                    <a:pt x="999349" y="0"/>
                  </a:lnTo>
                  <a:cubicBezTo>
                    <a:pt x="1007113" y="0"/>
                    <a:pt x="1014559" y="3084"/>
                    <a:pt x="1020050" y="8574"/>
                  </a:cubicBezTo>
                  <a:cubicBezTo>
                    <a:pt x="1025540" y="14065"/>
                    <a:pt x="1028624" y="21511"/>
                    <a:pt x="1028624" y="29275"/>
                  </a:cubicBezTo>
                  <a:lnTo>
                    <a:pt x="1028624" y="87788"/>
                  </a:lnTo>
                  <a:cubicBezTo>
                    <a:pt x="1028624" y="103956"/>
                    <a:pt x="1015517" y="117062"/>
                    <a:pt x="999349" y="117062"/>
                  </a:cubicBezTo>
                  <a:lnTo>
                    <a:pt x="29275" y="117062"/>
                  </a:lnTo>
                  <a:cubicBezTo>
                    <a:pt x="13107" y="117062"/>
                    <a:pt x="0" y="103956"/>
                    <a:pt x="0" y="87788"/>
                  </a:cubicBezTo>
                  <a:lnTo>
                    <a:pt x="0" y="29275"/>
                  </a:lnTo>
                  <a:cubicBezTo>
                    <a:pt x="0" y="13107"/>
                    <a:pt x="13107" y="0"/>
                    <a:pt x="29275" y="0"/>
                  </a:cubicBezTo>
                  <a:close/>
                </a:path>
              </a:pathLst>
            </a:custGeom>
            <a:solidFill>
              <a:srgbClr val="9E1D04"/>
            </a:solid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TextBox 13"/>
            <p:cNvSpPr txBox="1"/>
            <p:nvPr/>
          </p:nvSpPr>
          <p:spPr>
            <a:xfrm>
              <a:off x="0" y="-9525"/>
              <a:ext cx="1028624" cy="126587"/>
            </a:xfrm>
            <a:prstGeom prst="rect">
              <a:avLst/>
            </a:prstGeom>
          </p:spPr>
          <p:txBody>
            <a:bodyPr lIns="130089" tIns="130089" rIns="130089" bIns="130089" rtlCol="0" anchor="ctr"/>
            <a:lstStyle/>
            <a:p>
              <a:pPr algn="ctr" defTabSz="1513332">
                <a:lnSpc>
                  <a:spcPts val="5069"/>
                </a:lnSpc>
              </a:pPr>
              <a:endParaRPr sz="2979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" name="Group 14"/>
          <p:cNvGrpSpPr/>
          <p:nvPr/>
        </p:nvGrpSpPr>
        <p:grpSpPr>
          <a:xfrm>
            <a:off x="907190" y="10034713"/>
            <a:ext cx="8315997" cy="945943"/>
            <a:chOff x="0" y="0"/>
            <a:chExt cx="1028624" cy="117006"/>
          </a:xfrm>
        </p:grpSpPr>
        <p:sp>
          <p:nvSpPr>
            <p:cNvPr id="21" name="Freeform 15"/>
            <p:cNvSpPr/>
            <p:nvPr/>
          </p:nvSpPr>
          <p:spPr>
            <a:xfrm>
              <a:off x="0" y="0"/>
              <a:ext cx="1028624" cy="117006"/>
            </a:xfrm>
            <a:custGeom>
              <a:avLst/>
              <a:gdLst/>
              <a:ahLst/>
              <a:cxnLst/>
              <a:rect l="l" t="t" r="r" b="b"/>
              <a:pathLst>
                <a:path w="1028624" h="117006">
                  <a:moveTo>
                    <a:pt x="29275" y="0"/>
                  </a:moveTo>
                  <a:lnTo>
                    <a:pt x="999349" y="0"/>
                  </a:lnTo>
                  <a:cubicBezTo>
                    <a:pt x="1007113" y="0"/>
                    <a:pt x="1014559" y="3084"/>
                    <a:pt x="1020050" y="8574"/>
                  </a:cubicBezTo>
                  <a:cubicBezTo>
                    <a:pt x="1025540" y="14065"/>
                    <a:pt x="1028624" y="21511"/>
                    <a:pt x="1028624" y="29275"/>
                  </a:cubicBezTo>
                  <a:lnTo>
                    <a:pt x="1028624" y="87731"/>
                  </a:lnTo>
                  <a:cubicBezTo>
                    <a:pt x="1028624" y="103899"/>
                    <a:pt x="1015517" y="117006"/>
                    <a:pt x="999349" y="117006"/>
                  </a:cubicBezTo>
                  <a:lnTo>
                    <a:pt x="29275" y="117006"/>
                  </a:lnTo>
                  <a:cubicBezTo>
                    <a:pt x="13107" y="117006"/>
                    <a:pt x="0" y="103899"/>
                    <a:pt x="0" y="87731"/>
                  </a:cubicBezTo>
                  <a:lnTo>
                    <a:pt x="0" y="29275"/>
                  </a:lnTo>
                  <a:cubicBezTo>
                    <a:pt x="0" y="13107"/>
                    <a:pt x="13107" y="0"/>
                    <a:pt x="29275" y="0"/>
                  </a:cubicBezTo>
                  <a:close/>
                </a:path>
              </a:pathLst>
            </a:custGeom>
            <a:solidFill>
              <a:srgbClr val="9E1D04"/>
            </a:solid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TextBox 16"/>
            <p:cNvSpPr txBox="1"/>
            <p:nvPr/>
          </p:nvSpPr>
          <p:spPr>
            <a:xfrm>
              <a:off x="0" y="19050"/>
              <a:ext cx="1028624" cy="97956"/>
            </a:xfrm>
            <a:prstGeom prst="rect">
              <a:avLst/>
            </a:prstGeom>
          </p:spPr>
          <p:txBody>
            <a:bodyPr lIns="130089" tIns="130089" rIns="130089" bIns="130089" rtlCol="0" anchor="ctr"/>
            <a:lstStyle/>
            <a:p>
              <a:pPr algn="ctr" defTabSz="1513332">
                <a:lnSpc>
                  <a:spcPts val="4507"/>
                </a:lnSpc>
              </a:pPr>
              <a:endParaRPr sz="2979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TextBox 17"/>
          <p:cNvSpPr txBox="1"/>
          <p:nvPr/>
        </p:nvSpPr>
        <p:spPr>
          <a:xfrm>
            <a:off x="20966283" y="2841756"/>
            <a:ext cx="884755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Muhammad Zakir Haziq |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Engineering Science Programme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Ng Jun Hao, Elgin |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Engineering Science Programme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 Yu Jeanette |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Engineering Science Programme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Muthukumaran </a:t>
            </a:r>
            <a:r>
              <a:rPr kumimoji="0" lang="en-SG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Yogeeswaran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|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Engineering Science Programme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40"/>
          <p:cNvSpPr txBox="1"/>
          <p:nvPr/>
        </p:nvSpPr>
        <p:spPr>
          <a:xfrm>
            <a:off x="930441" y="2847201"/>
            <a:ext cx="8293769" cy="934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513332">
              <a:lnSpc>
                <a:spcPts val="7567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DESIGN STATEMENT</a:t>
            </a:r>
          </a:p>
        </p:txBody>
      </p:sp>
      <p:sp>
        <p:nvSpPr>
          <p:cNvPr id="61" name="TextBox 41"/>
          <p:cNvSpPr txBox="1"/>
          <p:nvPr/>
        </p:nvSpPr>
        <p:spPr>
          <a:xfrm>
            <a:off x="1142368" y="4408976"/>
            <a:ext cx="7905742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i="1" dirty="0">
                <a:solidFill>
                  <a:schemeClr val="bg1"/>
                </a:solidFill>
              </a:rPr>
              <a:t>"How might we design an intelligent boxing training system that can </a:t>
            </a:r>
            <a:r>
              <a:rPr lang="en-US" sz="4000" b="1" i="1" dirty="0">
                <a:solidFill>
                  <a:srgbClr val="FC7474"/>
                </a:solidFill>
              </a:rPr>
              <a:t>dynamically &amp; safely strike users </a:t>
            </a:r>
            <a:r>
              <a:rPr lang="en-US" sz="4000" i="1" dirty="0">
                <a:solidFill>
                  <a:schemeClr val="bg1"/>
                </a:solidFill>
              </a:rPr>
              <a:t>while </a:t>
            </a:r>
            <a:r>
              <a:rPr lang="en-US" sz="4000" b="1" i="1" dirty="0">
                <a:solidFill>
                  <a:srgbClr val="FC7474"/>
                </a:solidFill>
              </a:rPr>
              <a:t>assisting coaches in guiding, monitoring, &amp; sustaining boxer development </a:t>
            </a:r>
            <a:r>
              <a:rPr lang="en-US" sz="4000" i="1" dirty="0">
                <a:solidFill>
                  <a:schemeClr val="bg1"/>
                </a:solidFill>
              </a:rPr>
              <a:t>both during &amp; beyond training sessions.”</a:t>
            </a:r>
            <a:endParaRPr lang="en-SG" sz="4000" dirty="0">
              <a:solidFill>
                <a:schemeClr val="bg1"/>
              </a:solidFill>
              <a:latin typeface="Iskoola Pota" panose="020F0502020204030204" pitchFamily="34" charset="0"/>
              <a:cs typeface="Iskoola Pota" panose="020F0502020204030204" pitchFamily="34" charset="0"/>
            </a:endParaRPr>
          </a:p>
        </p:txBody>
      </p:sp>
      <p:sp>
        <p:nvSpPr>
          <p:cNvPr id="64" name="TextBox 44"/>
          <p:cNvSpPr txBox="1"/>
          <p:nvPr/>
        </p:nvSpPr>
        <p:spPr>
          <a:xfrm>
            <a:off x="2439883" y="10032867"/>
            <a:ext cx="5250611" cy="934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513332">
              <a:lnSpc>
                <a:spcPts val="7567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PROBLEM</a:t>
            </a:r>
          </a:p>
        </p:txBody>
      </p:sp>
      <p:sp>
        <p:nvSpPr>
          <p:cNvPr id="79" name="TextBox 59"/>
          <p:cNvSpPr txBox="1"/>
          <p:nvPr/>
        </p:nvSpPr>
        <p:spPr>
          <a:xfrm>
            <a:off x="11200645" y="14015970"/>
            <a:ext cx="668094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SG" sz="3200" b="1" dirty="0">
                <a:solidFill>
                  <a:schemeClr val="bg1"/>
                </a:solidFill>
              </a:rPr>
              <a:t>Sparring Partner</a:t>
            </a:r>
            <a:r>
              <a:rPr lang="en-SG" sz="3200" dirty="0">
                <a:solidFill>
                  <a:schemeClr val="bg1"/>
                </a:solidFill>
              </a:rPr>
              <a:t>: Reads and adaptively reacts to your attacks and defense!</a:t>
            </a:r>
          </a:p>
        </p:txBody>
      </p:sp>
      <p:grpSp>
        <p:nvGrpSpPr>
          <p:cNvPr id="80" name="Group 60"/>
          <p:cNvGrpSpPr/>
          <p:nvPr/>
        </p:nvGrpSpPr>
        <p:grpSpPr>
          <a:xfrm>
            <a:off x="10138878" y="12838176"/>
            <a:ext cx="6126530" cy="842550"/>
            <a:chOff x="0" y="6619"/>
            <a:chExt cx="3042834" cy="678777"/>
          </a:xfrm>
        </p:grpSpPr>
        <p:grpSp>
          <p:nvGrpSpPr>
            <p:cNvPr id="81" name="Group 61"/>
            <p:cNvGrpSpPr/>
            <p:nvPr/>
          </p:nvGrpSpPr>
          <p:grpSpPr>
            <a:xfrm>
              <a:off x="0" y="6619"/>
              <a:ext cx="3042834" cy="678777"/>
              <a:chOff x="0" y="0"/>
              <a:chExt cx="563189" cy="125633"/>
            </a:xfrm>
          </p:grpSpPr>
          <p:sp>
            <p:nvSpPr>
              <p:cNvPr id="83" name="Freeform 62"/>
              <p:cNvSpPr/>
              <p:nvPr/>
            </p:nvSpPr>
            <p:spPr>
              <a:xfrm>
                <a:off x="0" y="0"/>
                <a:ext cx="563189" cy="125633"/>
              </a:xfrm>
              <a:custGeom>
                <a:avLst/>
                <a:gdLst/>
                <a:ahLst/>
                <a:cxnLst/>
                <a:rect l="l" t="t" r="r" b="b"/>
                <a:pathLst>
                  <a:path w="563189" h="117006">
                    <a:moveTo>
                      <a:pt x="58503" y="0"/>
                    </a:moveTo>
                    <a:lnTo>
                      <a:pt x="504686" y="0"/>
                    </a:lnTo>
                    <a:cubicBezTo>
                      <a:pt x="536996" y="0"/>
                      <a:pt x="563189" y="26193"/>
                      <a:pt x="563189" y="58503"/>
                    </a:cubicBezTo>
                    <a:lnTo>
                      <a:pt x="563189" y="58503"/>
                    </a:lnTo>
                    <a:cubicBezTo>
                      <a:pt x="563189" y="74019"/>
                      <a:pt x="557025" y="88899"/>
                      <a:pt x="546054" y="99871"/>
                    </a:cubicBezTo>
                    <a:cubicBezTo>
                      <a:pt x="535082" y="110842"/>
                      <a:pt x="520202" y="117006"/>
                      <a:pt x="504686" y="117006"/>
                    </a:cubicBezTo>
                    <a:lnTo>
                      <a:pt x="58503" y="117006"/>
                    </a:lnTo>
                    <a:cubicBezTo>
                      <a:pt x="26193" y="117006"/>
                      <a:pt x="0" y="90813"/>
                      <a:pt x="0" y="58503"/>
                    </a:cubicBezTo>
                    <a:lnTo>
                      <a:pt x="0" y="58503"/>
                    </a:lnTo>
                    <a:cubicBezTo>
                      <a:pt x="0" y="26193"/>
                      <a:pt x="26193" y="0"/>
                      <a:pt x="58503" y="0"/>
                    </a:cubicBezTo>
                    <a:close/>
                  </a:path>
                </a:pathLst>
              </a:custGeom>
              <a:solidFill>
                <a:srgbClr val="9E1D0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4" name="TextBox 63"/>
              <p:cNvSpPr txBox="1"/>
              <p:nvPr/>
            </p:nvSpPr>
            <p:spPr>
              <a:xfrm>
                <a:off x="0" y="19050"/>
                <a:ext cx="563189" cy="97956"/>
              </a:xfrm>
              <a:prstGeom prst="rect">
                <a:avLst/>
              </a:prstGeom>
            </p:spPr>
            <p:txBody>
              <a:bodyPr lIns="210189" tIns="210189" rIns="210189" bIns="210189" rtlCol="0" anchor="ctr"/>
              <a:lstStyle/>
              <a:p>
                <a:pPr algn="ctr" defTabSz="1513332">
                  <a:lnSpc>
                    <a:spcPts val="4507"/>
                  </a:lnSpc>
                </a:pPr>
                <a:endParaRPr sz="2979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82" name="TextBox 64"/>
            <p:cNvSpPr txBox="1"/>
            <p:nvPr/>
          </p:nvSpPr>
          <p:spPr>
            <a:xfrm>
              <a:off x="237902" y="30311"/>
              <a:ext cx="2525891" cy="6508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1513332">
                <a:lnSpc>
                  <a:spcPts val="6277"/>
                </a:lnSpc>
                <a:spcBef>
                  <a:spcPct val="0"/>
                </a:spcBef>
              </a:pPr>
              <a:r>
                <a:rPr lang="en-US" sz="5706" b="1" dirty="0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KEY FEATURES</a:t>
              </a: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4B03211-FD4A-19F7-5E86-ED814551A39B}"/>
              </a:ext>
            </a:extLst>
          </p:cNvPr>
          <p:cNvGrpSpPr/>
          <p:nvPr/>
        </p:nvGrpSpPr>
        <p:grpSpPr>
          <a:xfrm>
            <a:off x="945991" y="11259275"/>
            <a:ext cx="8309380" cy="6722074"/>
            <a:chOff x="700086" y="8395995"/>
            <a:chExt cx="11206284" cy="9263820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7B4C7D57-61F2-C7F8-2082-8BF89D674747}"/>
                </a:ext>
              </a:extLst>
            </p:cNvPr>
            <p:cNvGrpSpPr>
              <a:grpSpLocks/>
            </p:cNvGrpSpPr>
            <p:nvPr/>
          </p:nvGrpSpPr>
          <p:grpSpPr>
            <a:xfrm>
              <a:off x="3429999" y="8395995"/>
              <a:ext cx="8476371" cy="3524309"/>
              <a:chOff x="3429999" y="8395995"/>
              <a:chExt cx="8476371" cy="3524309"/>
            </a:xfrm>
          </p:grpSpPr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3982057B-246C-B790-8478-D0FE96C86C6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429999" y="8395995"/>
                <a:ext cx="8300643" cy="2834640"/>
                <a:chOff x="1102437" y="6888480"/>
                <a:chExt cx="8300643" cy="2834640"/>
              </a:xfrm>
            </p:grpSpPr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F61B2129-676B-6868-E3ED-81B2127CAB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02437" y="6888480"/>
                  <a:ext cx="8300643" cy="2834640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EFBCD1FF-053B-267C-77B5-C1B2E64C63A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75817" y="7132320"/>
                  <a:ext cx="2547543" cy="2346960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</p:grp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348EA769-087B-012E-2E00-9E543A778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1957" y="8993650"/>
                <a:ext cx="2400770" cy="292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6600" dirty="0">
                    <a:solidFill>
                      <a:schemeClr val="bg1"/>
                    </a:solidFill>
                    <a:latin typeface="Iskoola Pota" panose="020F0502020204030204" pitchFamily="34" charset="0"/>
                    <a:cs typeface="Iskoola Pota" panose="020F0502020204030204" pitchFamily="34" charset="0"/>
                  </a:rPr>
                  <a:t>12/20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8F492CE-54D4-E9C2-F147-220CE3A6BE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3976" y="8936152"/>
                <a:ext cx="5422394" cy="1908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schemeClr val="bg1"/>
                    </a:solidFill>
                  </a:rPr>
                  <a:t>of boxers </a:t>
                </a:r>
                <a:r>
                  <a:rPr lang="en-US" sz="2800" b="1" i="1" dirty="0">
                    <a:solidFill>
                      <a:schemeClr val="bg1"/>
                    </a:solidFill>
                  </a:rPr>
                  <a:t>struggle to stay consistent </a:t>
                </a:r>
                <a:r>
                  <a:rPr lang="en-US" sz="2800" i="1" dirty="0">
                    <a:solidFill>
                      <a:schemeClr val="bg1"/>
                    </a:solidFill>
                  </a:rPr>
                  <a:t>when progress feels slow or unclear</a:t>
                </a:r>
                <a:endParaRPr lang="en-SG" sz="2800" dirty="0">
                  <a:solidFill>
                    <a:schemeClr val="bg1"/>
                  </a:solidFill>
                  <a:latin typeface="Iskoola Pota" panose="020F0502020204030204" pitchFamily="34" charset="0"/>
                  <a:cs typeface="Iskoola Pota" panose="020F0502020204030204" pitchFamily="34" charset="0"/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7AAFDC57-74EA-638D-3D47-122EBA093413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56233" y="11616890"/>
              <a:ext cx="8475055" cy="2834640"/>
              <a:chOff x="1068337" y="12406410"/>
              <a:chExt cx="8475055" cy="2834640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A8F41818-E481-2B9B-B9B1-3E0270711F4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068337" y="12406410"/>
                <a:ext cx="8300643" cy="2834640"/>
                <a:chOff x="1068338" y="9319856"/>
                <a:chExt cx="8300643" cy="2834640"/>
              </a:xfrm>
            </p:grpSpPr>
            <p:sp>
              <p:nvSpPr>
                <p:cNvPr id="216" name="Rectangle: Rounded Corners 215">
                  <a:extLst>
                    <a:ext uri="{FF2B5EF4-FFF2-40B4-BE49-F238E27FC236}">
                      <a16:creationId xmlns:a16="http://schemas.microsoft.com/office/drawing/2014/main" id="{1B05449C-D43D-275B-0987-DE9102E3B80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68338" y="9319856"/>
                  <a:ext cx="8300643" cy="2834640"/>
                </a:xfrm>
                <a:prstGeom prst="roundRect">
                  <a:avLst/>
                </a:prstGeom>
                <a:solidFill>
                  <a:srgbClr val="EE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  <p:sp>
              <p:nvSpPr>
                <p:cNvPr id="217" name="Rectangle: Rounded Corners 216">
                  <a:extLst>
                    <a:ext uri="{FF2B5EF4-FFF2-40B4-BE49-F238E27FC236}">
                      <a16:creationId xmlns:a16="http://schemas.microsoft.com/office/drawing/2014/main" id="{47B5DA88-D55F-758A-D59B-FE3E5F199C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1720" y="9563696"/>
                  <a:ext cx="2547543" cy="2346960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</p:grp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D6F355DC-3741-3822-0A4E-8551C42FA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202" y="13080838"/>
                <a:ext cx="2529028" cy="1526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6600" dirty="0">
                    <a:solidFill>
                      <a:schemeClr val="bg1"/>
                    </a:solidFill>
                    <a:latin typeface="Iskoola Pota" panose="020F0502020204030204" pitchFamily="34" charset="0"/>
                    <a:cs typeface="Iskoola Pota" panose="020F0502020204030204" pitchFamily="34" charset="0"/>
                  </a:rPr>
                  <a:t>44%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D0E6A3F9-0BE7-740B-5EBA-D4A20407D7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0996" y="12784671"/>
                <a:ext cx="5422396" cy="1908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schemeClr val="bg1"/>
                    </a:solidFill>
                  </a:rPr>
                  <a:t>of boxers face </a:t>
                </a:r>
                <a:r>
                  <a:rPr lang="en-US" sz="2800" b="1" i="1" dirty="0">
                    <a:solidFill>
                      <a:schemeClr val="bg1"/>
                    </a:solidFill>
                  </a:rPr>
                  <a:t>unreliable or unsuitable </a:t>
                </a:r>
                <a:r>
                  <a:rPr lang="en-US" sz="2800" i="1" dirty="0">
                    <a:solidFill>
                      <a:schemeClr val="bg1"/>
                    </a:solidFill>
                  </a:rPr>
                  <a:t>sparring partners</a:t>
                </a:r>
                <a:endParaRPr lang="en-SG" sz="2800" dirty="0">
                  <a:solidFill>
                    <a:schemeClr val="bg1"/>
                  </a:solidFill>
                  <a:latin typeface="Iskoola Pota" panose="020F0502020204030204" pitchFamily="34" charset="0"/>
                  <a:cs typeface="Iskoola Pota" panose="020F0502020204030204" pitchFamily="34" charset="0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A9514F0A-4BF7-54A0-B846-9B4D953A75CD}"/>
                </a:ext>
              </a:extLst>
            </p:cNvPr>
            <p:cNvGrpSpPr>
              <a:grpSpLocks/>
            </p:cNvGrpSpPr>
            <p:nvPr/>
          </p:nvGrpSpPr>
          <p:grpSpPr>
            <a:xfrm>
              <a:off x="3403793" y="14825175"/>
              <a:ext cx="8300643" cy="2834640"/>
              <a:chOff x="1386965" y="14825176"/>
              <a:chExt cx="8300643" cy="2834640"/>
            </a:xfrm>
          </p:grpSpPr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FAE452CF-8E65-E06B-94F7-054FD72A76F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386965" y="14825176"/>
                <a:ext cx="8300643" cy="2834640"/>
                <a:chOff x="1386966" y="11738622"/>
                <a:chExt cx="8300643" cy="2834640"/>
              </a:xfrm>
            </p:grpSpPr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F29DBA41-8B4F-EDA3-E96B-0A7FBED602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86966" y="11738622"/>
                  <a:ext cx="8300643" cy="2834640"/>
                </a:xfrm>
                <a:prstGeom prst="roundRect">
                  <a:avLst/>
                </a:prstGeom>
                <a:solidFill>
                  <a:srgbClr val="FF69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C6A252BB-B9BA-D3CB-B316-FF63E6B5946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60347" y="11982464"/>
                  <a:ext cx="2547543" cy="2346960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400"/>
                </a:p>
              </p:txBody>
            </p:sp>
          </p:grp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5E4B7838-88F5-3D9C-44A0-2DD714516D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2288" y="15536779"/>
                <a:ext cx="2529028" cy="1526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6600" dirty="0">
                    <a:solidFill>
                      <a:schemeClr val="bg1"/>
                    </a:solidFill>
                    <a:latin typeface="Iskoola Pota" panose="020F0502020204030204" pitchFamily="34" charset="0"/>
                    <a:cs typeface="Iskoola Pota" panose="020F0502020204030204" pitchFamily="34" charset="0"/>
                  </a:rPr>
                  <a:t>36%</a:t>
                </a: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A5FBAF1-5497-B2E1-5D46-DCEB1850D1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3609" y="15632528"/>
                <a:ext cx="5057928" cy="1314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schemeClr val="bg1"/>
                    </a:solidFill>
                  </a:rPr>
                  <a:t>of boxers fear </a:t>
                </a:r>
                <a:r>
                  <a:rPr lang="en-US" sz="2800" b="1" i="1" dirty="0">
                    <a:solidFill>
                      <a:schemeClr val="bg1"/>
                    </a:solidFill>
                  </a:rPr>
                  <a:t>high risk of injury</a:t>
                </a:r>
                <a:r>
                  <a:rPr lang="en-US" sz="2800" i="1" dirty="0">
                    <a:solidFill>
                      <a:schemeClr val="bg1"/>
                    </a:solidFill>
                  </a:rPr>
                  <a:t> during training</a:t>
                </a:r>
                <a:endParaRPr lang="en-SG" sz="2800" dirty="0">
                  <a:solidFill>
                    <a:schemeClr val="bg1"/>
                  </a:solidFill>
                  <a:latin typeface="Iskoola Pota" panose="020F0502020204030204" pitchFamily="34" charset="0"/>
                  <a:cs typeface="Iskoola Pota" panose="020F0502020204030204" pitchFamily="34" charset="0"/>
                </a:endParaRPr>
              </a:p>
            </p:txBody>
          </p:sp>
        </p:grpSp>
        <p:pic>
          <p:nvPicPr>
            <p:cNvPr id="224" name="Graphic 223" descr="Sloth with solid fill">
              <a:extLst>
                <a:ext uri="{FF2B5EF4-FFF2-40B4-BE49-F238E27FC236}">
                  <a16:creationId xmlns:a16="http://schemas.microsoft.com/office/drawing/2014/main" id="{2C1ECD3A-0192-F5C8-1158-A32158DF51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92334" y="8603798"/>
              <a:ext cx="2331720" cy="2331720"/>
            </a:xfrm>
            <a:prstGeom prst="rect">
              <a:avLst/>
            </a:prstGeom>
          </p:spPr>
        </p:pic>
        <p:pic>
          <p:nvPicPr>
            <p:cNvPr id="225" name="Graphic 224" descr="Confused face with solid fill with solid fill">
              <a:extLst>
                <a:ext uri="{FF2B5EF4-FFF2-40B4-BE49-F238E27FC236}">
                  <a16:creationId xmlns:a16="http://schemas.microsoft.com/office/drawing/2014/main" id="{CAEFDBA2-100E-E43A-08D2-3676E8B179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64823" y="11840312"/>
              <a:ext cx="2331720" cy="2331720"/>
            </a:xfrm>
            <a:prstGeom prst="rect">
              <a:avLst/>
            </a:prstGeom>
          </p:spPr>
        </p:pic>
        <p:pic>
          <p:nvPicPr>
            <p:cNvPr id="226" name="Graphic 225" descr="Adhesive Bandage with solid fill">
              <a:extLst>
                <a:ext uri="{FF2B5EF4-FFF2-40B4-BE49-F238E27FC236}">
                  <a16:creationId xmlns:a16="http://schemas.microsoft.com/office/drawing/2014/main" id="{08AC1850-8CB6-5761-640C-B38F6BD10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0086" y="14931422"/>
              <a:ext cx="2529028" cy="2529028"/>
            </a:xfrm>
            <a:prstGeom prst="rect">
              <a:avLst/>
            </a:prstGeom>
          </p:spPr>
        </p:pic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7DCC63E-23D6-71ED-42B8-92C164B09525}"/>
              </a:ext>
            </a:extLst>
          </p:cNvPr>
          <p:cNvGrpSpPr/>
          <p:nvPr/>
        </p:nvGrpSpPr>
        <p:grpSpPr>
          <a:xfrm>
            <a:off x="9782224" y="4674906"/>
            <a:ext cx="6393845" cy="1634549"/>
            <a:chOff x="8802755" y="4649820"/>
            <a:chExt cx="6393845" cy="1634549"/>
          </a:xfrm>
        </p:grpSpPr>
        <p:sp>
          <p:nvSpPr>
            <p:cNvPr id="32" name="Freeform 19"/>
            <p:cNvSpPr/>
            <p:nvPr/>
          </p:nvSpPr>
          <p:spPr>
            <a:xfrm flipH="1">
              <a:off x="9048110" y="4649820"/>
              <a:ext cx="6148490" cy="1634549"/>
            </a:xfrm>
            <a:custGeom>
              <a:avLst/>
              <a:gdLst/>
              <a:ahLst/>
              <a:cxnLst/>
              <a:rect l="l" t="t" r="r" b="b"/>
              <a:pathLst>
                <a:path w="3397306" h="928161">
                  <a:moveTo>
                    <a:pt x="3397306" y="0"/>
                  </a:moveTo>
                  <a:lnTo>
                    <a:pt x="0" y="0"/>
                  </a:lnTo>
                  <a:lnTo>
                    <a:pt x="0" y="928161"/>
                  </a:lnTo>
                  <a:lnTo>
                    <a:pt x="3397306" y="928161"/>
                  </a:lnTo>
                  <a:lnTo>
                    <a:pt x="339730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716" r="-716"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TextBox 20"/>
            <p:cNvSpPr txBox="1"/>
            <p:nvPr/>
          </p:nvSpPr>
          <p:spPr>
            <a:xfrm>
              <a:off x="11465225" y="4795739"/>
              <a:ext cx="3581497" cy="429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defTabSz="1513332">
                <a:lnSpc>
                  <a:spcPts val="3154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Contact Points</a:t>
              </a:r>
            </a:p>
          </p:txBody>
        </p:sp>
        <p:sp>
          <p:nvSpPr>
            <p:cNvPr id="34" name="TextBox 21"/>
            <p:cNvSpPr txBox="1"/>
            <p:nvPr/>
          </p:nvSpPr>
          <p:spPr>
            <a:xfrm>
              <a:off x="8802755" y="5352209"/>
              <a:ext cx="6274574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SG" sz="2400" dirty="0">
                  <a:solidFill>
                    <a:schemeClr val="bg1"/>
                  </a:solidFill>
                  <a:cs typeface="Iskoola Pota" panose="020F0502020204030204" pitchFamily="34" charset="0"/>
                </a:rPr>
                <a:t>Polyethylene Foam punching contact points so boxers can punch &amp; get punched without injury</a:t>
              </a:r>
            </a:p>
          </p:txBody>
        </p:sp>
      </p:grpSp>
      <p:pic>
        <p:nvPicPr>
          <p:cNvPr id="228" name="Picture 227" descr="A white and red machine&#10;&#10;AI-generated content may be incorrect.">
            <a:extLst>
              <a:ext uri="{FF2B5EF4-FFF2-40B4-BE49-F238E27FC236}">
                <a16:creationId xmlns:a16="http://schemas.microsoft.com/office/drawing/2014/main" id="{DFE31E4B-71E3-B77F-FE77-84E36ED240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903" b="93750" l="18519" r="80208">
                        <a14:foregroundMark x1="22222" y1="10301" x2="24074" y2="12847"/>
                        <a14:foregroundMark x1="49653" y1="14120" x2="50579" y2="14236"/>
                        <a14:foregroundMark x1="49537" y1="11227" x2="49884" y2="10648"/>
                        <a14:foregroundMark x1="19676" y1="6713" x2="19907" y2="5903"/>
                        <a14:foregroundMark x1="18519" y1="6019" x2="19097" y2="5903"/>
                        <a14:foregroundMark x1="41898" y1="30440" x2="54861" y2="31019"/>
                        <a14:foregroundMark x1="54861" y1="31019" x2="55556" y2="31019"/>
                        <a14:foregroundMark x1="55556" y1="31250" x2="59491" y2="31481"/>
                        <a14:foregroundMark x1="59606" y1="31481" x2="61574" y2="31597"/>
                        <a14:foregroundMark x1="62153" y1="31597" x2="62616" y2="31250"/>
                        <a14:foregroundMark x1="66782" y1="31597" x2="66782" y2="31597"/>
                        <a14:foregroundMark x1="67130" y1="31481" x2="67477" y2="31481"/>
                        <a14:foregroundMark x1="62963" y1="31134" x2="62963" y2="31134"/>
                        <a14:foregroundMark x1="68056" y1="31250" x2="68056" y2="31250"/>
                        <a14:foregroundMark x1="45023" y1="41898" x2="45023" y2="41898"/>
                        <a14:foregroundMark x1="39352" y1="42014" x2="39352" y2="42014"/>
                        <a14:foregroundMark x1="51042" y1="43403" x2="51042" y2="43403"/>
                        <a14:foregroundMark x1="50694" y1="43403" x2="50694" y2="43403"/>
                        <a14:foregroundMark x1="43634" y1="68519" x2="43634" y2="68519"/>
                        <a14:foregroundMark x1="38657" y1="68634" x2="45023" y2="67593"/>
                        <a14:foregroundMark x1="45023" y1="67593" x2="45486" y2="67593"/>
                        <a14:foregroundMark x1="36343" y1="93750" x2="54282" y2="94329"/>
                        <a14:foregroundMark x1="54282" y1="94329" x2="78125" y2="90509"/>
                        <a14:foregroundMark x1="78125" y1="90509" x2="79745" y2="87963"/>
                        <a14:foregroundMark x1="79745" y1="87963" x2="79745" y2="82407"/>
                        <a14:foregroundMark x1="79745" y1="82407" x2="76505" y2="78935"/>
                        <a14:foregroundMark x1="76505" y1="78935" x2="70139" y2="78704"/>
                        <a14:foregroundMark x1="70139" y1="78704" x2="60995" y2="82870"/>
                        <a14:foregroundMark x1="60995" y1="82870" x2="36227" y2="81944"/>
                        <a14:foregroundMark x1="36227" y1="81944" x2="37500" y2="93750"/>
                        <a14:foregroundMark x1="37500" y1="93750" x2="37269" y2="92593"/>
                        <a14:foregroundMark x1="76505" y1="82292" x2="80208" y2="81481"/>
                        <a14:foregroundMark x1="42130" y1="67361" x2="47338" y2="66898"/>
                        <a14:foregroundMark x1="63079" y1="67824" x2="64468" y2="68287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6670" t="3357" r="17418" b="3456"/>
          <a:stretch>
            <a:fillRect/>
          </a:stretch>
        </p:blipFill>
        <p:spPr>
          <a:xfrm>
            <a:off x="15839119" y="5442436"/>
            <a:ext cx="9014954" cy="12745281"/>
          </a:xfrm>
          <a:prstGeom prst="rect">
            <a:avLst/>
          </a:prstGeom>
        </p:spPr>
      </p:pic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E2F8D6D-1AA6-1232-312F-8B85B170B39A}"/>
              </a:ext>
            </a:extLst>
          </p:cNvPr>
          <p:cNvGrpSpPr/>
          <p:nvPr/>
        </p:nvGrpSpPr>
        <p:grpSpPr>
          <a:xfrm>
            <a:off x="9818205" y="7717048"/>
            <a:ext cx="6393845" cy="1634549"/>
            <a:chOff x="8802755" y="4649820"/>
            <a:chExt cx="6393845" cy="1634549"/>
          </a:xfrm>
        </p:grpSpPr>
        <p:sp>
          <p:nvSpPr>
            <p:cNvPr id="231" name="Freeform 19">
              <a:extLst>
                <a:ext uri="{FF2B5EF4-FFF2-40B4-BE49-F238E27FC236}">
                  <a16:creationId xmlns:a16="http://schemas.microsoft.com/office/drawing/2014/main" id="{86CA154C-40FF-2927-DDC1-370E6721187C}"/>
                </a:ext>
              </a:extLst>
            </p:cNvPr>
            <p:cNvSpPr/>
            <p:nvPr/>
          </p:nvSpPr>
          <p:spPr>
            <a:xfrm flipH="1">
              <a:off x="9048110" y="4649820"/>
              <a:ext cx="6148490" cy="1634549"/>
            </a:xfrm>
            <a:custGeom>
              <a:avLst/>
              <a:gdLst/>
              <a:ahLst/>
              <a:cxnLst/>
              <a:rect l="l" t="t" r="r" b="b"/>
              <a:pathLst>
                <a:path w="3397306" h="928161">
                  <a:moveTo>
                    <a:pt x="3397306" y="0"/>
                  </a:moveTo>
                  <a:lnTo>
                    <a:pt x="0" y="0"/>
                  </a:lnTo>
                  <a:lnTo>
                    <a:pt x="0" y="928161"/>
                  </a:lnTo>
                  <a:lnTo>
                    <a:pt x="3397306" y="928161"/>
                  </a:lnTo>
                  <a:lnTo>
                    <a:pt x="339730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716" r="-716"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TextBox 20">
              <a:extLst>
                <a:ext uri="{FF2B5EF4-FFF2-40B4-BE49-F238E27FC236}">
                  <a16:creationId xmlns:a16="http://schemas.microsoft.com/office/drawing/2014/main" id="{326C0804-85EF-0DB0-9444-ACBA43E24CF2}"/>
                </a:ext>
              </a:extLst>
            </p:cNvPr>
            <p:cNvSpPr txBox="1"/>
            <p:nvPr/>
          </p:nvSpPr>
          <p:spPr>
            <a:xfrm>
              <a:off x="11465225" y="4795739"/>
              <a:ext cx="3581497" cy="429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defTabSz="1513332">
                <a:lnSpc>
                  <a:spcPts val="3154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Height Adjustment</a:t>
              </a:r>
            </a:p>
          </p:txBody>
        </p:sp>
        <p:sp>
          <p:nvSpPr>
            <p:cNvPr id="233" name="TextBox 21">
              <a:extLst>
                <a:ext uri="{FF2B5EF4-FFF2-40B4-BE49-F238E27FC236}">
                  <a16:creationId xmlns:a16="http://schemas.microsoft.com/office/drawing/2014/main" id="{496CCA4C-92D6-E1C1-B7BF-C018948E64AB}"/>
                </a:ext>
              </a:extLst>
            </p:cNvPr>
            <p:cNvSpPr txBox="1"/>
            <p:nvPr/>
          </p:nvSpPr>
          <p:spPr>
            <a:xfrm>
              <a:off x="8802755" y="5352209"/>
              <a:ext cx="6274574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SG" sz="2400" dirty="0">
                  <a:solidFill>
                    <a:schemeClr val="bg1"/>
                  </a:solidFill>
                  <a:cs typeface="Iskoola Pota" panose="020F0502020204030204" pitchFamily="34" charset="0"/>
                </a:rPr>
                <a:t>Height-adjustable to accommodate boxers of varying heights</a:t>
              </a: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04B4CB5-2715-5195-B83D-B56511E94C92}"/>
              </a:ext>
            </a:extLst>
          </p:cNvPr>
          <p:cNvGrpSpPr/>
          <p:nvPr/>
        </p:nvGrpSpPr>
        <p:grpSpPr>
          <a:xfrm>
            <a:off x="23656468" y="7967152"/>
            <a:ext cx="5948167" cy="2183968"/>
            <a:chOff x="23830538" y="5344817"/>
            <a:chExt cx="5948167" cy="2183968"/>
          </a:xfrm>
        </p:grpSpPr>
        <p:sp>
          <p:nvSpPr>
            <p:cNvPr id="46" name="Freeform 31"/>
            <p:cNvSpPr>
              <a:spLocks/>
            </p:cNvSpPr>
            <p:nvPr/>
          </p:nvSpPr>
          <p:spPr>
            <a:xfrm>
              <a:off x="23830538" y="5344817"/>
              <a:ext cx="5948167" cy="2183968"/>
            </a:xfrm>
            <a:custGeom>
              <a:avLst/>
              <a:gdLst/>
              <a:ahLst/>
              <a:cxnLst/>
              <a:rect l="l" t="t" r="r" b="b"/>
              <a:pathLst>
                <a:path w="3593983" h="968028">
                  <a:moveTo>
                    <a:pt x="0" y="0"/>
                  </a:moveTo>
                  <a:lnTo>
                    <a:pt x="3593983" y="0"/>
                  </a:lnTo>
                  <a:lnTo>
                    <a:pt x="3593983" y="968028"/>
                  </a:lnTo>
                  <a:lnTo>
                    <a:pt x="0" y="968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TextBox 20">
              <a:extLst>
                <a:ext uri="{FF2B5EF4-FFF2-40B4-BE49-F238E27FC236}">
                  <a16:creationId xmlns:a16="http://schemas.microsoft.com/office/drawing/2014/main" id="{64A68A3D-C3B8-262E-3A94-880D83D20B44}"/>
                </a:ext>
              </a:extLst>
            </p:cNvPr>
            <p:cNvSpPr txBox="1">
              <a:spLocks/>
            </p:cNvSpPr>
            <p:nvPr/>
          </p:nvSpPr>
          <p:spPr>
            <a:xfrm>
              <a:off x="23960305" y="5547726"/>
              <a:ext cx="3581497" cy="429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1513332">
                <a:lnSpc>
                  <a:spcPts val="3154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Arm Actuation</a:t>
              </a:r>
            </a:p>
          </p:txBody>
        </p:sp>
        <p:sp>
          <p:nvSpPr>
            <p:cNvPr id="245" name="TextBox 21">
              <a:extLst>
                <a:ext uri="{FF2B5EF4-FFF2-40B4-BE49-F238E27FC236}">
                  <a16:creationId xmlns:a16="http://schemas.microsoft.com/office/drawing/2014/main" id="{FB64C13E-0ADE-EEB6-3CB5-5CB2029F5AF2}"/>
                </a:ext>
              </a:extLst>
            </p:cNvPr>
            <p:cNvSpPr txBox="1">
              <a:spLocks/>
            </p:cNvSpPr>
            <p:nvPr/>
          </p:nvSpPr>
          <p:spPr>
            <a:xfrm>
              <a:off x="23966078" y="6259449"/>
              <a:ext cx="5423059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  <a:cs typeface="Iskoola Pota" panose="020F0502020204030204" pitchFamily="34" charset="0"/>
                </a:rPr>
                <a:t>2 Degree-of-Freedom arm-mount that replicates training with boxing sticks used in training</a:t>
              </a: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D11471B6-0DAF-5B6A-F110-232D3A05CF12}"/>
              </a:ext>
            </a:extLst>
          </p:cNvPr>
          <p:cNvGrpSpPr/>
          <p:nvPr/>
        </p:nvGrpSpPr>
        <p:grpSpPr>
          <a:xfrm>
            <a:off x="23304716" y="10918052"/>
            <a:ext cx="6299919" cy="1925551"/>
            <a:chOff x="23304716" y="10918052"/>
            <a:chExt cx="6299919" cy="1925551"/>
          </a:xfrm>
        </p:grpSpPr>
        <p:sp>
          <p:nvSpPr>
            <p:cNvPr id="246" name="Freeform 31">
              <a:extLst>
                <a:ext uri="{FF2B5EF4-FFF2-40B4-BE49-F238E27FC236}">
                  <a16:creationId xmlns:a16="http://schemas.microsoft.com/office/drawing/2014/main" id="{C4F1E0FE-E0DF-1EE9-A895-E594E7F8E76E}"/>
                </a:ext>
              </a:extLst>
            </p:cNvPr>
            <p:cNvSpPr/>
            <p:nvPr/>
          </p:nvSpPr>
          <p:spPr>
            <a:xfrm>
              <a:off x="23304716" y="10918052"/>
              <a:ext cx="6299919" cy="1925551"/>
            </a:xfrm>
            <a:custGeom>
              <a:avLst/>
              <a:gdLst/>
              <a:ahLst/>
              <a:cxnLst/>
              <a:rect l="l" t="t" r="r" b="b"/>
              <a:pathLst>
                <a:path w="3593983" h="968028">
                  <a:moveTo>
                    <a:pt x="0" y="0"/>
                  </a:moveTo>
                  <a:lnTo>
                    <a:pt x="3593983" y="0"/>
                  </a:lnTo>
                  <a:lnTo>
                    <a:pt x="3593983" y="968028"/>
                  </a:lnTo>
                  <a:lnTo>
                    <a:pt x="0" y="968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TextBox 20">
              <a:extLst>
                <a:ext uri="{FF2B5EF4-FFF2-40B4-BE49-F238E27FC236}">
                  <a16:creationId xmlns:a16="http://schemas.microsoft.com/office/drawing/2014/main" id="{0D5BF557-B607-C457-AB16-D1134C788D5C}"/>
                </a:ext>
              </a:extLst>
            </p:cNvPr>
            <p:cNvSpPr txBox="1"/>
            <p:nvPr/>
          </p:nvSpPr>
          <p:spPr>
            <a:xfrm>
              <a:off x="23434483" y="11120961"/>
              <a:ext cx="4107319" cy="429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1513332">
                <a:lnSpc>
                  <a:spcPts val="3154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Robot Intelligence</a:t>
              </a:r>
            </a:p>
          </p:txBody>
        </p:sp>
        <p:sp>
          <p:nvSpPr>
            <p:cNvPr id="248" name="TextBox 21">
              <a:extLst>
                <a:ext uri="{FF2B5EF4-FFF2-40B4-BE49-F238E27FC236}">
                  <a16:creationId xmlns:a16="http://schemas.microsoft.com/office/drawing/2014/main" id="{B9E8DC38-FD83-E09A-DC43-39950B235F34}"/>
                </a:ext>
              </a:extLst>
            </p:cNvPr>
            <p:cNvSpPr txBox="1"/>
            <p:nvPr/>
          </p:nvSpPr>
          <p:spPr>
            <a:xfrm>
              <a:off x="23434483" y="11679609"/>
              <a:ext cx="5812627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  <a:cs typeface="Iskoola Pota" panose="020F0502020204030204" pitchFamily="34" charset="0"/>
                </a:rPr>
                <a:t>AI Brain with capabilities of LLM Coaching and Computer Vision to increase adaptability and make trainings insightful</a:t>
              </a:r>
            </a:p>
          </p:txBody>
        </p:sp>
      </p:grpSp>
      <p:pic>
        <p:nvPicPr>
          <p:cNvPr id="250" name="Graphic 249" descr="Checkbox Ticked with solid fill">
            <a:extLst>
              <a:ext uri="{FF2B5EF4-FFF2-40B4-BE49-F238E27FC236}">
                <a16:creationId xmlns:a16="http://schemas.microsoft.com/office/drawing/2014/main" id="{B2D6C064-96C0-A5BC-B7C3-971D92AE4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38368" y="14004675"/>
            <a:ext cx="1060806" cy="1060806"/>
          </a:xfrm>
          <a:prstGeom prst="rect">
            <a:avLst/>
          </a:prstGeom>
        </p:spPr>
      </p:pic>
      <p:sp>
        <p:nvSpPr>
          <p:cNvPr id="251" name="TextBox 59">
            <a:extLst>
              <a:ext uri="{FF2B5EF4-FFF2-40B4-BE49-F238E27FC236}">
                <a16:creationId xmlns:a16="http://schemas.microsoft.com/office/drawing/2014/main" id="{3413AF70-8244-A1EF-8476-6CC916F744E0}"/>
              </a:ext>
            </a:extLst>
          </p:cNvPr>
          <p:cNvSpPr txBox="1"/>
          <p:nvPr/>
        </p:nvSpPr>
        <p:spPr>
          <a:xfrm>
            <a:off x="11200645" y="15352947"/>
            <a:ext cx="668094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SG" sz="3200" b="1" dirty="0">
                <a:solidFill>
                  <a:schemeClr val="bg1"/>
                </a:solidFill>
              </a:rPr>
              <a:t>Punch Combinations</a:t>
            </a:r>
            <a:r>
              <a:rPr lang="en-SG" sz="3200" dirty="0">
                <a:solidFill>
                  <a:schemeClr val="bg1"/>
                </a:solidFill>
              </a:rPr>
              <a:t>: Master your way up to 50 combinations even up from beginner level!</a:t>
            </a:r>
          </a:p>
        </p:txBody>
      </p:sp>
      <p:pic>
        <p:nvPicPr>
          <p:cNvPr id="252" name="Graphic 251" descr="Checkbox Ticked with solid fill">
            <a:extLst>
              <a:ext uri="{FF2B5EF4-FFF2-40B4-BE49-F238E27FC236}">
                <a16:creationId xmlns:a16="http://schemas.microsoft.com/office/drawing/2014/main" id="{C94FDEA9-6DB5-E472-17D3-78AFF05F39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38368" y="15341652"/>
            <a:ext cx="1060806" cy="1060806"/>
          </a:xfrm>
          <a:prstGeom prst="rect">
            <a:avLst/>
          </a:prstGeom>
        </p:spPr>
      </p:pic>
      <p:sp>
        <p:nvSpPr>
          <p:cNvPr id="253" name="TextBox 59">
            <a:extLst>
              <a:ext uri="{FF2B5EF4-FFF2-40B4-BE49-F238E27FC236}">
                <a16:creationId xmlns:a16="http://schemas.microsoft.com/office/drawing/2014/main" id="{FAA7E5E7-553E-2576-C79B-5E1F0AA7EBB0}"/>
              </a:ext>
            </a:extLst>
          </p:cNvPr>
          <p:cNvSpPr txBox="1"/>
          <p:nvPr/>
        </p:nvSpPr>
        <p:spPr>
          <a:xfrm>
            <a:off x="11200645" y="16766746"/>
            <a:ext cx="668094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SG" sz="3200" b="1" dirty="0">
                <a:solidFill>
                  <a:schemeClr val="bg1"/>
                </a:solidFill>
              </a:rPr>
              <a:t>Performance</a:t>
            </a:r>
            <a:r>
              <a:rPr lang="en-SG" sz="3200" dirty="0">
                <a:solidFill>
                  <a:schemeClr val="bg1"/>
                </a:solidFill>
              </a:rPr>
              <a:t>: Test your power, stamina &amp; reaction time </a:t>
            </a:r>
            <a:r>
              <a:rPr lang="en-SG" sz="3200">
                <a:solidFill>
                  <a:schemeClr val="bg1"/>
                </a:solidFill>
              </a:rPr>
              <a:t>with BoxBunny!</a:t>
            </a:r>
            <a:endParaRPr lang="en-SG" sz="3200" dirty="0">
              <a:solidFill>
                <a:schemeClr val="bg1"/>
              </a:solidFill>
            </a:endParaRPr>
          </a:p>
        </p:txBody>
      </p:sp>
      <p:pic>
        <p:nvPicPr>
          <p:cNvPr id="254" name="Graphic 253" descr="Checkbox Ticked with solid fill">
            <a:extLst>
              <a:ext uri="{FF2B5EF4-FFF2-40B4-BE49-F238E27FC236}">
                <a16:creationId xmlns:a16="http://schemas.microsoft.com/office/drawing/2014/main" id="{E012D124-282C-D0EB-E8D5-00D7EB7AF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38368" y="16755451"/>
            <a:ext cx="1060806" cy="1060806"/>
          </a:xfrm>
          <a:prstGeom prst="rect">
            <a:avLst/>
          </a:prstGeom>
        </p:spPr>
      </p:pic>
      <p:sp>
        <p:nvSpPr>
          <p:cNvPr id="51" name="AutoShape 34"/>
          <p:cNvSpPr/>
          <p:nvPr/>
        </p:nvSpPr>
        <p:spPr>
          <a:xfrm>
            <a:off x="16176069" y="5377295"/>
            <a:ext cx="2914036" cy="1634549"/>
          </a:xfrm>
          <a:prstGeom prst="line">
            <a:avLst/>
          </a:prstGeom>
          <a:ln w="19050" cap="flat">
            <a:solidFill>
              <a:srgbClr val="FC747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5" name="AutoShape 34">
            <a:extLst>
              <a:ext uri="{FF2B5EF4-FFF2-40B4-BE49-F238E27FC236}">
                <a16:creationId xmlns:a16="http://schemas.microsoft.com/office/drawing/2014/main" id="{63A589A5-599A-3AE7-1238-8222C2C5BA49}"/>
              </a:ext>
            </a:extLst>
          </p:cNvPr>
          <p:cNvSpPr/>
          <p:nvPr/>
        </p:nvSpPr>
        <p:spPr>
          <a:xfrm>
            <a:off x="15703579" y="6480247"/>
            <a:ext cx="2770334" cy="4185312"/>
          </a:xfrm>
          <a:prstGeom prst="line">
            <a:avLst/>
          </a:prstGeom>
          <a:ln w="19050" cap="flat">
            <a:solidFill>
              <a:srgbClr val="FC747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57" name="Picture 256" descr="A grey machine with a circular wheel&#10;&#10;AI-generated content may be incorrect.">
            <a:extLst>
              <a:ext uri="{FF2B5EF4-FFF2-40B4-BE49-F238E27FC236}">
                <a16:creationId xmlns:a16="http://schemas.microsoft.com/office/drawing/2014/main" id="{E96EB49A-64E2-018E-27DD-C0718C6AA7F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818" b="96811" l="3370" r="95000">
                        <a14:foregroundMark x1="16304" y1="83302" x2="16304" y2="83302"/>
                        <a14:foregroundMark x1="10761" y1="76548" x2="10761" y2="76548"/>
                        <a14:foregroundMark x1="15761" y1="80863" x2="14783" y2="85741"/>
                        <a14:foregroundMark x1="16304" y1="96811" x2="20870" y2="96998"/>
                        <a14:foregroundMark x1="5435" y1="94934" x2="3478" y2="95497"/>
                        <a14:foregroundMark x1="88261" y1="63602" x2="93370" y2="74109"/>
                        <a14:foregroundMark x1="93370" y1="74109" x2="95000" y2="75985"/>
                        <a14:foregroundMark x1="81413" y1="10507" x2="80217" y2="88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00301" y="5534093"/>
            <a:ext cx="3935755" cy="2280171"/>
          </a:xfrm>
          <a:prstGeom prst="rect">
            <a:avLst/>
          </a:prstGeom>
        </p:spPr>
      </p:pic>
      <p:sp>
        <p:nvSpPr>
          <p:cNvPr id="259" name="AutoShape 34">
            <a:extLst>
              <a:ext uri="{FF2B5EF4-FFF2-40B4-BE49-F238E27FC236}">
                <a16:creationId xmlns:a16="http://schemas.microsoft.com/office/drawing/2014/main" id="{FF22BCA0-B1DC-A271-4954-99F946B1D093}"/>
              </a:ext>
            </a:extLst>
          </p:cNvPr>
          <p:cNvSpPr/>
          <p:nvPr/>
        </p:nvSpPr>
        <p:spPr>
          <a:xfrm flipH="1">
            <a:off x="22673387" y="8599730"/>
            <a:ext cx="932659" cy="1153266"/>
          </a:xfrm>
          <a:prstGeom prst="line">
            <a:avLst/>
          </a:prstGeom>
          <a:ln w="19050" cap="flat">
            <a:solidFill>
              <a:srgbClr val="FC747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0" name="AutoShape 34">
            <a:extLst>
              <a:ext uri="{FF2B5EF4-FFF2-40B4-BE49-F238E27FC236}">
                <a16:creationId xmlns:a16="http://schemas.microsoft.com/office/drawing/2014/main" id="{F0FE431C-A368-3F5B-F361-E551179FDD77}"/>
              </a:ext>
            </a:extLst>
          </p:cNvPr>
          <p:cNvSpPr/>
          <p:nvPr/>
        </p:nvSpPr>
        <p:spPr>
          <a:xfrm>
            <a:off x="16274345" y="9379703"/>
            <a:ext cx="3372881" cy="3458473"/>
          </a:xfrm>
          <a:prstGeom prst="line">
            <a:avLst/>
          </a:prstGeom>
          <a:ln w="19050" cap="flat">
            <a:solidFill>
              <a:srgbClr val="FC747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D93C46E-DAC2-E8C0-30F4-FA29864A4CB7}"/>
              </a:ext>
            </a:extLst>
          </p:cNvPr>
          <p:cNvGrpSpPr/>
          <p:nvPr/>
        </p:nvGrpSpPr>
        <p:grpSpPr>
          <a:xfrm>
            <a:off x="10268032" y="9887027"/>
            <a:ext cx="5876545" cy="2319497"/>
            <a:chOff x="9320052" y="4037554"/>
            <a:chExt cx="5876545" cy="2230064"/>
          </a:xfrm>
        </p:grpSpPr>
        <p:sp>
          <p:nvSpPr>
            <p:cNvPr id="262" name="Freeform 19">
              <a:extLst>
                <a:ext uri="{FF2B5EF4-FFF2-40B4-BE49-F238E27FC236}">
                  <a16:creationId xmlns:a16="http://schemas.microsoft.com/office/drawing/2014/main" id="{0CD44555-05E4-7D49-1E1B-E6F8F66A000E}"/>
                </a:ext>
              </a:extLst>
            </p:cNvPr>
            <p:cNvSpPr/>
            <p:nvPr/>
          </p:nvSpPr>
          <p:spPr>
            <a:xfrm flipH="1">
              <a:off x="9320052" y="4037554"/>
              <a:ext cx="5876545" cy="2230064"/>
            </a:xfrm>
            <a:custGeom>
              <a:avLst/>
              <a:gdLst/>
              <a:ahLst/>
              <a:cxnLst/>
              <a:rect l="l" t="t" r="r" b="b"/>
              <a:pathLst>
                <a:path w="3397306" h="928161">
                  <a:moveTo>
                    <a:pt x="3397306" y="0"/>
                  </a:moveTo>
                  <a:lnTo>
                    <a:pt x="0" y="0"/>
                  </a:lnTo>
                  <a:lnTo>
                    <a:pt x="0" y="928161"/>
                  </a:lnTo>
                  <a:lnTo>
                    <a:pt x="3397306" y="928161"/>
                  </a:lnTo>
                  <a:lnTo>
                    <a:pt x="3397306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716" r="-716"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TextBox 20">
              <a:extLst>
                <a:ext uri="{FF2B5EF4-FFF2-40B4-BE49-F238E27FC236}">
                  <a16:creationId xmlns:a16="http://schemas.microsoft.com/office/drawing/2014/main" id="{9F801CCA-E6AA-F58A-DA1F-E179C55E84B9}"/>
                </a:ext>
              </a:extLst>
            </p:cNvPr>
            <p:cNvSpPr txBox="1"/>
            <p:nvPr/>
          </p:nvSpPr>
          <p:spPr>
            <a:xfrm>
              <a:off x="11311280" y="4093524"/>
              <a:ext cx="3665735" cy="8400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defTabSz="1513332">
                <a:lnSpc>
                  <a:spcPts val="3154"/>
                </a:lnSpc>
                <a:spcBef>
                  <a:spcPct val="0"/>
                </a:spcBef>
              </a:pPr>
              <a:r>
                <a:rPr lang="en-US" sz="3600" dirty="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Footwork Mechanism</a:t>
              </a:r>
            </a:p>
          </p:txBody>
        </p:sp>
        <p:sp>
          <p:nvSpPr>
            <p:cNvPr id="264" name="TextBox 21">
              <a:extLst>
                <a:ext uri="{FF2B5EF4-FFF2-40B4-BE49-F238E27FC236}">
                  <a16:creationId xmlns:a16="http://schemas.microsoft.com/office/drawing/2014/main" id="{DB4C9364-8773-1E21-E3A0-FE58D8728280}"/>
                </a:ext>
              </a:extLst>
            </p:cNvPr>
            <p:cNvSpPr txBox="1"/>
            <p:nvPr/>
          </p:nvSpPr>
          <p:spPr>
            <a:xfrm>
              <a:off x="9659826" y="5085879"/>
              <a:ext cx="5407432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SG" sz="2400" dirty="0">
                  <a:solidFill>
                    <a:schemeClr val="bg1"/>
                  </a:solidFill>
                  <a:cs typeface="Iskoola Pota" panose="020F0502020204030204" pitchFamily="34" charset="0"/>
                </a:rPr>
                <a:t>Rotating base to pivot along a single axis for enhanced footwork training</a:t>
              </a:r>
            </a:p>
          </p:txBody>
        </p:sp>
      </p:grpSp>
      <p:sp>
        <p:nvSpPr>
          <p:cNvPr id="265" name="AutoShape 34">
            <a:extLst>
              <a:ext uri="{FF2B5EF4-FFF2-40B4-BE49-F238E27FC236}">
                <a16:creationId xmlns:a16="http://schemas.microsoft.com/office/drawing/2014/main" id="{3A9DDD99-ADE5-AD12-9A5C-8A04571CC299}"/>
              </a:ext>
            </a:extLst>
          </p:cNvPr>
          <p:cNvSpPr/>
          <p:nvPr/>
        </p:nvSpPr>
        <p:spPr>
          <a:xfrm>
            <a:off x="16333594" y="11183140"/>
            <a:ext cx="2106848" cy="4470192"/>
          </a:xfrm>
          <a:prstGeom prst="line">
            <a:avLst/>
          </a:prstGeom>
          <a:ln w="19050" cap="flat">
            <a:solidFill>
              <a:srgbClr val="FC7474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074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0FA7-9572-67AB-57CF-8318416E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D2EF39-0476-3EC0-2826-D8B3EEAC2ECF}"/>
              </a:ext>
            </a:extLst>
          </p:cNvPr>
          <p:cNvSpPr/>
          <p:nvPr/>
        </p:nvSpPr>
        <p:spPr>
          <a:xfrm flipH="1">
            <a:off x="-1" y="2194017"/>
            <a:ext cx="30267275" cy="15868172"/>
          </a:xfrm>
          <a:custGeom>
            <a:avLst/>
            <a:gdLst/>
            <a:ahLst/>
            <a:cxnLst/>
            <a:rect l="l" t="t" r="r" b="b"/>
            <a:pathLst>
              <a:path w="18288000" h="9587818">
                <a:moveTo>
                  <a:pt x="18288000" y="0"/>
                </a:moveTo>
                <a:lnTo>
                  <a:pt x="0" y="0"/>
                </a:lnTo>
                <a:lnTo>
                  <a:pt x="0" y="9587819"/>
                </a:lnTo>
                <a:lnTo>
                  <a:pt x="18288000" y="9587819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5893" t="-8927" r="-8378" b="-36427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611E634-F80A-C031-7AAE-0F7671C725A6}"/>
              </a:ext>
            </a:extLst>
          </p:cNvPr>
          <p:cNvSpPr/>
          <p:nvPr/>
        </p:nvSpPr>
        <p:spPr>
          <a:xfrm>
            <a:off x="6608553" y="2185492"/>
            <a:ext cx="17607481" cy="15876700"/>
          </a:xfrm>
          <a:custGeom>
            <a:avLst/>
            <a:gdLst/>
            <a:ahLst/>
            <a:cxnLst/>
            <a:rect l="l" t="t" r="r" b="b"/>
            <a:pathLst>
              <a:path w="10638738" h="9592971">
                <a:moveTo>
                  <a:pt x="0" y="0"/>
                </a:moveTo>
                <a:lnTo>
                  <a:pt x="10638738" y="0"/>
                </a:lnTo>
                <a:lnTo>
                  <a:pt x="10638738" y="9592971"/>
                </a:lnTo>
                <a:lnTo>
                  <a:pt x="0" y="95929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t="-17861" b="-19690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C7CCA0F-8FDD-F466-2B05-8C17173E7834}"/>
              </a:ext>
            </a:extLst>
          </p:cNvPr>
          <p:cNvSpPr/>
          <p:nvPr/>
        </p:nvSpPr>
        <p:spPr>
          <a:xfrm>
            <a:off x="16127917" y="2194018"/>
            <a:ext cx="14137883" cy="15877930"/>
          </a:xfrm>
          <a:custGeom>
            <a:avLst/>
            <a:gdLst/>
            <a:ahLst/>
            <a:cxnLst/>
            <a:rect l="l" t="t" r="r" b="b"/>
            <a:pathLst>
              <a:path w="8542348" h="9593714">
                <a:moveTo>
                  <a:pt x="0" y="0"/>
                </a:moveTo>
                <a:lnTo>
                  <a:pt x="8542348" y="0"/>
                </a:lnTo>
                <a:lnTo>
                  <a:pt x="8542348" y="9593714"/>
                </a:lnTo>
                <a:lnTo>
                  <a:pt x="0" y="959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</a:blip>
            <a:stretch>
              <a:fillRect t="-17913" r="-24912" b="-20038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0628A6E-5FDC-1AFD-B88A-341638F007FB}"/>
              </a:ext>
            </a:extLst>
          </p:cNvPr>
          <p:cNvSpPr/>
          <p:nvPr/>
        </p:nvSpPr>
        <p:spPr>
          <a:xfrm>
            <a:off x="9426688" y="3829747"/>
            <a:ext cx="20649939" cy="14148347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8499716-8697-38BF-2FC4-A4D7B7427572}"/>
              </a:ext>
            </a:extLst>
          </p:cNvPr>
          <p:cNvSpPr/>
          <p:nvPr/>
        </p:nvSpPr>
        <p:spPr>
          <a:xfrm>
            <a:off x="9447201" y="3857853"/>
            <a:ext cx="20629425" cy="14097015"/>
          </a:xfrm>
          <a:custGeom>
            <a:avLst/>
            <a:gdLst/>
            <a:ahLst/>
            <a:cxnLst/>
            <a:rect l="l" t="t" r="r" b="b"/>
            <a:pathLst>
              <a:path w="12464648" h="8517655">
                <a:moveTo>
                  <a:pt x="0" y="0"/>
                </a:moveTo>
                <a:lnTo>
                  <a:pt x="12464648" y="0"/>
                </a:lnTo>
                <a:lnTo>
                  <a:pt x="12464648" y="8517655"/>
                </a:lnTo>
                <a:lnTo>
                  <a:pt x="0" y="8517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>
              <a:fillRect t="-25206" b="-21132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EA09017-F87C-8BB8-5EC6-8437F8120C53}"/>
              </a:ext>
            </a:extLst>
          </p:cNvPr>
          <p:cNvSpPr/>
          <p:nvPr/>
        </p:nvSpPr>
        <p:spPr>
          <a:xfrm flipH="1">
            <a:off x="16390825" y="4911157"/>
            <a:ext cx="7210147" cy="12932488"/>
          </a:xfrm>
          <a:custGeom>
            <a:avLst/>
            <a:gdLst/>
            <a:ahLst/>
            <a:cxnLst/>
            <a:rect l="l" t="t" r="r" b="b"/>
            <a:pathLst>
              <a:path w="4356493" h="7814028">
                <a:moveTo>
                  <a:pt x="4356494" y="0"/>
                </a:moveTo>
                <a:lnTo>
                  <a:pt x="0" y="0"/>
                </a:lnTo>
                <a:lnTo>
                  <a:pt x="0" y="7814028"/>
                </a:lnTo>
                <a:lnTo>
                  <a:pt x="4356494" y="7814028"/>
                </a:lnTo>
                <a:lnTo>
                  <a:pt x="4356494" y="0"/>
                </a:lnTo>
                <a:close/>
              </a:path>
            </a:pathLst>
          </a:custGeom>
          <a:blipFill>
            <a:blip r:embed="rId5"/>
            <a:stretch>
              <a:fillRect l="-29223" t="-4364" r="-27422" b="-3956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ACDE41B-AE23-85AB-24B1-0BF6B2AAFB63}"/>
              </a:ext>
            </a:extLst>
          </p:cNvPr>
          <p:cNvSpPr/>
          <p:nvPr/>
        </p:nvSpPr>
        <p:spPr>
          <a:xfrm>
            <a:off x="173671" y="10013915"/>
            <a:ext cx="9126179" cy="7964179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F116D60-B806-29ED-3747-B4628058B753}"/>
              </a:ext>
            </a:extLst>
          </p:cNvPr>
          <p:cNvSpPr/>
          <p:nvPr/>
        </p:nvSpPr>
        <p:spPr>
          <a:xfrm>
            <a:off x="3017410" y="3559721"/>
            <a:ext cx="3315182" cy="4875269"/>
          </a:xfrm>
          <a:custGeom>
            <a:avLst/>
            <a:gdLst/>
            <a:ahLst/>
            <a:cxnLst/>
            <a:rect l="l" t="t" r="r" b="b"/>
            <a:pathLst>
              <a:path w="2003089" h="2945720">
                <a:moveTo>
                  <a:pt x="0" y="0"/>
                </a:moveTo>
                <a:lnTo>
                  <a:pt x="2003089" y="0"/>
                </a:lnTo>
                <a:lnTo>
                  <a:pt x="2003089" y="2945720"/>
                </a:lnTo>
                <a:lnTo>
                  <a:pt x="0" y="2945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6EE4ADE-0B88-D3B4-6F66-42801B5D65DA}"/>
              </a:ext>
            </a:extLst>
          </p:cNvPr>
          <p:cNvSpPr/>
          <p:nvPr/>
        </p:nvSpPr>
        <p:spPr>
          <a:xfrm>
            <a:off x="173671" y="2801787"/>
            <a:ext cx="9126179" cy="6391137"/>
          </a:xfrm>
          <a:prstGeom prst="rect">
            <a:avLst/>
          </a:prstGeom>
          <a:solidFill>
            <a:srgbClr val="121012">
              <a:alpha val="80000"/>
            </a:srgbClr>
          </a:solidFill>
          <a:ln w="9525" cap="sq">
            <a:solidFill>
              <a:srgbClr val="9E1D04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DCDD9DD-2DDA-5F5A-A17F-94843A75CCC7}"/>
              </a:ext>
            </a:extLst>
          </p:cNvPr>
          <p:cNvGrpSpPr/>
          <p:nvPr/>
        </p:nvGrpSpPr>
        <p:grpSpPr>
          <a:xfrm>
            <a:off x="548711" y="2328816"/>
            <a:ext cx="8315997" cy="946400"/>
            <a:chOff x="0" y="0"/>
            <a:chExt cx="1028624" cy="11706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DD37952-D146-C5F5-6064-9E85BB6BA458}"/>
                </a:ext>
              </a:extLst>
            </p:cNvPr>
            <p:cNvSpPr/>
            <p:nvPr/>
          </p:nvSpPr>
          <p:spPr>
            <a:xfrm>
              <a:off x="0" y="0"/>
              <a:ext cx="1028624" cy="117062"/>
            </a:xfrm>
            <a:custGeom>
              <a:avLst/>
              <a:gdLst/>
              <a:ahLst/>
              <a:cxnLst/>
              <a:rect l="l" t="t" r="r" b="b"/>
              <a:pathLst>
                <a:path w="1028624" h="117062">
                  <a:moveTo>
                    <a:pt x="29275" y="0"/>
                  </a:moveTo>
                  <a:lnTo>
                    <a:pt x="999349" y="0"/>
                  </a:lnTo>
                  <a:cubicBezTo>
                    <a:pt x="1007113" y="0"/>
                    <a:pt x="1014559" y="3084"/>
                    <a:pt x="1020050" y="8574"/>
                  </a:cubicBezTo>
                  <a:cubicBezTo>
                    <a:pt x="1025540" y="14065"/>
                    <a:pt x="1028624" y="21511"/>
                    <a:pt x="1028624" y="29275"/>
                  </a:cubicBezTo>
                  <a:lnTo>
                    <a:pt x="1028624" y="87788"/>
                  </a:lnTo>
                  <a:cubicBezTo>
                    <a:pt x="1028624" y="103956"/>
                    <a:pt x="1015517" y="117062"/>
                    <a:pt x="999349" y="117062"/>
                  </a:cubicBezTo>
                  <a:lnTo>
                    <a:pt x="29275" y="117062"/>
                  </a:lnTo>
                  <a:cubicBezTo>
                    <a:pt x="13107" y="117062"/>
                    <a:pt x="0" y="103956"/>
                    <a:pt x="0" y="87788"/>
                  </a:cubicBezTo>
                  <a:lnTo>
                    <a:pt x="0" y="29275"/>
                  </a:lnTo>
                  <a:cubicBezTo>
                    <a:pt x="0" y="13107"/>
                    <a:pt x="13107" y="0"/>
                    <a:pt x="29275" y="0"/>
                  </a:cubicBezTo>
                  <a:close/>
                </a:path>
              </a:pathLst>
            </a:custGeom>
            <a:solidFill>
              <a:srgbClr val="9E1D04"/>
            </a:solid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B00AE30-FA09-4362-255F-305D1AFE7A2D}"/>
                </a:ext>
              </a:extLst>
            </p:cNvPr>
            <p:cNvSpPr txBox="1"/>
            <p:nvPr/>
          </p:nvSpPr>
          <p:spPr>
            <a:xfrm>
              <a:off x="0" y="-9525"/>
              <a:ext cx="1028624" cy="126587"/>
            </a:xfrm>
            <a:prstGeom prst="rect">
              <a:avLst/>
            </a:prstGeom>
          </p:spPr>
          <p:txBody>
            <a:bodyPr lIns="130089" tIns="130089" rIns="130089" bIns="130089" rtlCol="0" anchor="ctr"/>
            <a:lstStyle/>
            <a:p>
              <a:pPr algn="ctr" defTabSz="1513332">
                <a:lnSpc>
                  <a:spcPts val="5069"/>
                </a:lnSpc>
              </a:pPr>
              <a:endParaRPr sz="2979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F1B95FD-D194-6076-33A9-F7A5BCF674ED}"/>
              </a:ext>
            </a:extLst>
          </p:cNvPr>
          <p:cNvGrpSpPr/>
          <p:nvPr/>
        </p:nvGrpSpPr>
        <p:grpSpPr>
          <a:xfrm>
            <a:off x="548711" y="9534409"/>
            <a:ext cx="8315997" cy="945943"/>
            <a:chOff x="0" y="0"/>
            <a:chExt cx="1028624" cy="11700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DA39505-F8A1-0900-BD6B-9CBECAD71BBE}"/>
                </a:ext>
              </a:extLst>
            </p:cNvPr>
            <p:cNvSpPr/>
            <p:nvPr/>
          </p:nvSpPr>
          <p:spPr>
            <a:xfrm>
              <a:off x="0" y="0"/>
              <a:ext cx="1028624" cy="117006"/>
            </a:xfrm>
            <a:custGeom>
              <a:avLst/>
              <a:gdLst/>
              <a:ahLst/>
              <a:cxnLst/>
              <a:rect l="l" t="t" r="r" b="b"/>
              <a:pathLst>
                <a:path w="1028624" h="117006">
                  <a:moveTo>
                    <a:pt x="29275" y="0"/>
                  </a:moveTo>
                  <a:lnTo>
                    <a:pt x="999349" y="0"/>
                  </a:lnTo>
                  <a:cubicBezTo>
                    <a:pt x="1007113" y="0"/>
                    <a:pt x="1014559" y="3084"/>
                    <a:pt x="1020050" y="8574"/>
                  </a:cubicBezTo>
                  <a:cubicBezTo>
                    <a:pt x="1025540" y="14065"/>
                    <a:pt x="1028624" y="21511"/>
                    <a:pt x="1028624" y="29275"/>
                  </a:cubicBezTo>
                  <a:lnTo>
                    <a:pt x="1028624" y="87731"/>
                  </a:lnTo>
                  <a:cubicBezTo>
                    <a:pt x="1028624" y="103899"/>
                    <a:pt x="1015517" y="117006"/>
                    <a:pt x="999349" y="117006"/>
                  </a:cubicBezTo>
                  <a:lnTo>
                    <a:pt x="29275" y="117006"/>
                  </a:lnTo>
                  <a:cubicBezTo>
                    <a:pt x="13107" y="117006"/>
                    <a:pt x="0" y="103899"/>
                    <a:pt x="0" y="87731"/>
                  </a:cubicBezTo>
                  <a:lnTo>
                    <a:pt x="0" y="29275"/>
                  </a:lnTo>
                  <a:cubicBezTo>
                    <a:pt x="0" y="13107"/>
                    <a:pt x="13107" y="0"/>
                    <a:pt x="29275" y="0"/>
                  </a:cubicBezTo>
                  <a:close/>
                </a:path>
              </a:pathLst>
            </a:custGeom>
            <a:solidFill>
              <a:srgbClr val="9E1D04"/>
            </a:solid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BF8804D-45D3-4E09-D5BE-E5D512B1A7DF}"/>
                </a:ext>
              </a:extLst>
            </p:cNvPr>
            <p:cNvSpPr txBox="1"/>
            <p:nvPr/>
          </p:nvSpPr>
          <p:spPr>
            <a:xfrm>
              <a:off x="0" y="19050"/>
              <a:ext cx="1028624" cy="97956"/>
            </a:xfrm>
            <a:prstGeom prst="rect">
              <a:avLst/>
            </a:prstGeom>
          </p:spPr>
          <p:txBody>
            <a:bodyPr lIns="130089" tIns="130089" rIns="130089" bIns="130089" rtlCol="0" anchor="ctr"/>
            <a:lstStyle/>
            <a:p>
              <a:pPr algn="ctr" defTabSz="1513332">
                <a:lnSpc>
                  <a:spcPts val="4507"/>
                </a:lnSpc>
              </a:pPr>
              <a:endParaRPr sz="2979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B83DD13D-1C17-EF9C-B51D-45F95DB81DD8}"/>
              </a:ext>
            </a:extLst>
          </p:cNvPr>
          <p:cNvSpPr txBox="1"/>
          <p:nvPr/>
        </p:nvSpPr>
        <p:spPr>
          <a:xfrm>
            <a:off x="22072256" y="2220750"/>
            <a:ext cx="8131530" cy="145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2949"/>
              </a:lnSpc>
            </a:pPr>
            <a:r>
              <a:rPr lang="en-US" sz="2047" spc="2" dirty="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Ramie Lim Rui Min | </a:t>
            </a:r>
            <a:r>
              <a:rPr lang="en-US" sz="2047" spc="2" dirty="0">
                <a:solidFill>
                  <a:srgbClr val="003D7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Mechanical Engineering</a:t>
            </a:r>
            <a:r>
              <a:rPr lang="en-US" sz="2047" spc="2" dirty="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  <a:p>
            <a:pPr algn="r" defTabSz="1513332">
              <a:lnSpc>
                <a:spcPts val="2949"/>
              </a:lnSpc>
            </a:pPr>
            <a:r>
              <a:rPr lang="en-US" sz="2047" spc="2" dirty="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Muhammad Zakir Haziq | </a:t>
            </a:r>
            <a:r>
              <a:rPr lang="en-US" sz="2047" spc="2" dirty="0">
                <a:solidFill>
                  <a:srgbClr val="003D7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Engineering Science </a:t>
            </a:r>
          </a:p>
          <a:p>
            <a:pPr algn="r" defTabSz="1513332">
              <a:lnSpc>
                <a:spcPts val="2949"/>
              </a:lnSpc>
            </a:pPr>
            <a:r>
              <a:rPr lang="en-US" sz="2047" spc="2" dirty="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Sim Yu Jeanette | </a:t>
            </a:r>
            <a:r>
              <a:rPr lang="en-US" sz="2047" spc="2" dirty="0">
                <a:solidFill>
                  <a:srgbClr val="003D7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Engineering Science </a:t>
            </a:r>
          </a:p>
          <a:p>
            <a:pPr algn="r" defTabSz="1513332">
              <a:lnSpc>
                <a:spcPts val="2949"/>
              </a:lnSpc>
            </a:pPr>
            <a:r>
              <a:rPr lang="en-US" sz="2047" spc="2" dirty="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Mageshkumar Kirubasankar | </a:t>
            </a:r>
            <a:r>
              <a:rPr lang="en-US" sz="2047" spc="2" dirty="0">
                <a:solidFill>
                  <a:srgbClr val="003D7C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Mechanical Engineering 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6433C05-7042-0982-40BD-0734398F00DC}"/>
              </a:ext>
            </a:extLst>
          </p:cNvPr>
          <p:cNvSpPr/>
          <p:nvPr/>
        </p:nvSpPr>
        <p:spPr>
          <a:xfrm>
            <a:off x="4708932" y="4588904"/>
            <a:ext cx="0" cy="448226"/>
          </a:xfrm>
          <a:prstGeom prst="line">
            <a:avLst/>
          </a:prstGeom>
          <a:ln w="190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200A20A-392A-31C7-88CB-79F835F21BF3}"/>
              </a:ext>
            </a:extLst>
          </p:cNvPr>
          <p:cNvSpPr/>
          <p:nvPr/>
        </p:nvSpPr>
        <p:spPr>
          <a:xfrm flipH="1">
            <a:off x="10838688" y="6795089"/>
            <a:ext cx="5622659" cy="1536139"/>
          </a:xfrm>
          <a:custGeom>
            <a:avLst/>
            <a:gdLst/>
            <a:ahLst/>
            <a:cxnLst/>
            <a:rect l="l" t="t" r="r" b="b"/>
            <a:pathLst>
              <a:path w="3397306" h="928161">
                <a:moveTo>
                  <a:pt x="3397306" y="0"/>
                </a:moveTo>
                <a:lnTo>
                  <a:pt x="0" y="0"/>
                </a:lnTo>
                <a:lnTo>
                  <a:pt x="0" y="928161"/>
                </a:lnTo>
                <a:lnTo>
                  <a:pt x="3397306" y="928161"/>
                </a:lnTo>
                <a:lnTo>
                  <a:pt x="33973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16" r="-716"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2279789-F27E-DC86-E70E-8F263152C911}"/>
              </a:ext>
            </a:extLst>
          </p:cNvPr>
          <p:cNvSpPr txBox="1"/>
          <p:nvPr/>
        </p:nvSpPr>
        <p:spPr>
          <a:xfrm>
            <a:off x="12697001" y="6882667"/>
            <a:ext cx="358149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Touchscreen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8C7B433-0BB8-1801-3C2B-792B30A6BCC5}"/>
              </a:ext>
            </a:extLst>
          </p:cNvPr>
          <p:cNvSpPr txBox="1"/>
          <p:nvPr/>
        </p:nvSpPr>
        <p:spPr>
          <a:xfrm>
            <a:off x="11894637" y="7445993"/>
            <a:ext cx="438386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Full control over training modes and combos</a:t>
            </a: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69B79BB6-F404-13FA-2F48-A4D77D151EB1}"/>
              </a:ext>
            </a:extLst>
          </p:cNvPr>
          <p:cNvSpPr/>
          <p:nvPr/>
        </p:nvSpPr>
        <p:spPr>
          <a:xfrm>
            <a:off x="22887302" y="5736988"/>
            <a:ext cx="5394806" cy="1453072"/>
          </a:xfrm>
          <a:custGeom>
            <a:avLst/>
            <a:gdLst/>
            <a:ahLst/>
            <a:cxnLst/>
            <a:rect l="l" t="t" r="r" b="b"/>
            <a:pathLst>
              <a:path w="3259633" h="877971">
                <a:moveTo>
                  <a:pt x="0" y="0"/>
                </a:moveTo>
                <a:lnTo>
                  <a:pt x="3259633" y="0"/>
                </a:lnTo>
                <a:lnTo>
                  <a:pt x="3259633" y="877971"/>
                </a:lnTo>
                <a:lnTo>
                  <a:pt x="0" y="877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14270BC-3C16-1616-55CE-83D8ACDB3D68}"/>
              </a:ext>
            </a:extLst>
          </p:cNvPr>
          <p:cNvSpPr txBox="1"/>
          <p:nvPr/>
        </p:nvSpPr>
        <p:spPr>
          <a:xfrm>
            <a:off x="23037433" y="5810639"/>
            <a:ext cx="181731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Camera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63F1B80-9D5A-0F47-6DA9-891AC98A7D1D}"/>
              </a:ext>
            </a:extLst>
          </p:cNvPr>
          <p:cNvSpPr txBox="1"/>
          <p:nvPr/>
        </p:nvSpPr>
        <p:spPr>
          <a:xfrm>
            <a:off x="23037432" y="6316816"/>
            <a:ext cx="4338134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Detects your punches and reacts accordingly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B4DF7F51-F538-7B9D-CF4D-5D9DACEF2059}"/>
              </a:ext>
            </a:extLst>
          </p:cNvPr>
          <p:cNvSpPr/>
          <p:nvPr/>
        </p:nvSpPr>
        <p:spPr>
          <a:xfrm flipH="1">
            <a:off x="10548819" y="8814185"/>
            <a:ext cx="5893014" cy="1587264"/>
          </a:xfrm>
          <a:custGeom>
            <a:avLst/>
            <a:gdLst/>
            <a:ahLst/>
            <a:cxnLst/>
            <a:rect l="l" t="t" r="r" b="b"/>
            <a:pathLst>
              <a:path w="3560659" h="959052">
                <a:moveTo>
                  <a:pt x="3560660" y="0"/>
                </a:moveTo>
                <a:lnTo>
                  <a:pt x="0" y="0"/>
                </a:lnTo>
                <a:lnTo>
                  <a:pt x="0" y="959052"/>
                </a:lnTo>
                <a:lnTo>
                  <a:pt x="3560660" y="959052"/>
                </a:lnTo>
                <a:lnTo>
                  <a:pt x="35606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973CC98-B2D8-411E-E392-54D97239F58D}"/>
              </a:ext>
            </a:extLst>
          </p:cNvPr>
          <p:cNvSpPr txBox="1"/>
          <p:nvPr/>
        </p:nvSpPr>
        <p:spPr>
          <a:xfrm>
            <a:off x="12697001" y="8909058"/>
            <a:ext cx="358149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Ultrasonic Sensors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ACA19C5-3100-E557-9F03-80812F9FEAE0}"/>
              </a:ext>
            </a:extLst>
          </p:cNvPr>
          <p:cNvSpPr txBox="1"/>
          <p:nvPr/>
        </p:nvSpPr>
        <p:spPr>
          <a:xfrm>
            <a:off x="11894637" y="9472384"/>
            <a:ext cx="438386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Tracks your movements and moves to follow you</a:t>
            </a: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257AF267-FC35-9132-6ECC-2927F55D3E12}"/>
              </a:ext>
            </a:extLst>
          </p:cNvPr>
          <p:cNvSpPr/>
          <p:nvPr/>
        </p:nvSpPr>
        <p:spPr>
          <a:xfrm>
            <a:off x="21563332" y="4059509"/>
            <a:ext cx="5394806" cy="1453072"/>
          </a:xfrm>
          <a:custGeom>
            <a:avLst/>
            <a:gdLst/>
            <a:ahLst/>
            <a:cxnLst/>
            <a:rect l="l" t="t" r="r" b="b"/>
            <a:pathLst>
              <a:path w="3259633" h="877971">
                <a:moveTo>
                  <a:pt x="0" y="0"/>
                </a:moveTo>
                <a:lnTo>
                  <a:pt x="3259633" y="0"/>
                </a:lnTo>
                <a:lnTo>
                  <a:pt x="3259633" y="877972"/>
                </a:lnTo>
                <a:lnTo>
                  <a:pt x="0" y="877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4950920-1717-9BA4-3047-936A74874F67}"/>
              </a:ext>
            </a:extLst>
          </p:cNvPr>
          <p:cNvSpPr txBox="1"/>
          <p:nvPr/>
        </p:nvSpPr>
        <p:spPr>
          <a:xfrm>
            <a:off x="21754162" y="4121056"/>
            <a:ext cx="229041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Processor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486E941-D503-982A-689B-EF88922E446B}"/>
              </a:ext>
            </a:extLst>
          </p:cNvPr>
          <p:cNvSpPr txBox="1"/>
          <p:nvPr/>
        </p:nvSpPr>
        <p:spPr>
          <a:xfrm>
            <a:off x="21754162" y="4640014"/>
            <a:ext cx="438386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AI-driven algorithms to spar with you in real time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F0A32E01-FCD2-8099-DDBB-BBB199825AF5}"/>
              </a:ext>
            </a:extLst>
          </p:cNvPr>
          <p:cNvSpPr/>
          <p:nvPr/>
        </p:nvSpPr>
        <p:spPr>
          <a:xfrm>
            <a:off x="23887821" y="7383866"/>
            <a:ext cx="5948167" cy="1602120"/>
          </a:xfrm>
          <a:custGeom>
            <a:avLst/>
            <a:gdLst/>
            <a:ahLst/>
            <a:cxnLst/>
            <a:rect l="l" t="t" r="r" b="b"/>
            <a:pathLst>
              <a:path w="3593983" h="968028">
                <a:moveTo>
                  <a:pt x="0" y="0"/>
                </a:moveTo>
                <a:lnTo>
                  <a:pt x="3593983" y="0"/>
                </a:lnTo>
                <a:lnTo>
                  <a:pt x="3593983" y="968028"/>
                </a:lnTo>
                <a:lnTo>
                  <a:pt x="0" y="968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F17E771-79B2-0284-6F3C-EAEAF95B1953}"/>
              </a:ext>
            </a:extLst>
          </p:cNvPr>
          <p:cNvSpPr txBox="1"/>
          <p:nvPr/>
        </p:nvSpPr>
        <p:spPr>
          <a:xfrm>
            <a:off x="24032843" y="7509059"/>
            <a:ext cx="359887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Soft Contact Points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EC336DA-598D-9B94-E507-E85171CF6E08}"/>
              </a:ext>
            </a:extLst>
          </p:cNvPr>
          <p:cNvSpPr txBox="1"/>
          <p:nvPr/>
        </p:nvSpPr>
        <p:spPr>
          <a:xfrm>
            <a:off x="24032844" y="8072713"/>
            <a:ext cx="438386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Reduces injury risk to users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41956647-E0EB-A161-2A0B-2FABB2F82364}"/>
              </a:ext>
            </a:extLst>
          </p:cNvPr>
          <p:cNvSpPr/>
          <p:nvPr/>
        </p:nvSpPr>
        <p:spPr>
          <a:xfrm>
            <a:off x="16461348" y="7563159"/>
            <a:ext cx="2874102" cy="1272109"/>
          </a:xfrm>
          <a:prstGeom prst="line">
            <a:avLst/>
          </a:prstGeom>
          <a:ln w="571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4D2542C3-CFDB-2002-C0CB-DA4F6A015499}"/>
              </a:ext>
            </a:extLst>
          </p:cNvPr>
          <p:cNvSpPr/>
          <p:nvPr/>
        </p:nvSpPr>
        <p:spPr>
          <a:xfrm>
            <a:off x="16461348" y="9602012"/>
            <a:ext cx="3043452" cy="1902077"/>
          </a:xfrm>
          <a:prstGeom prst="line">
            <a:avLst/>
          </a:prstGeom>
          <a:ln w="571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80286073-32C4-73F9-1D6B-331143D8E56A}"/>
              </a:ext>
            </a:extLst>
          </p:cNvPr>
          <p:cNvSpPr/>
          <p:nvPr/>
        </p:nvSpPr>
        <p:spPr>
          <a:xfrm>
            <a:off x="16461347" y="11670664"/>
            <a:ext cx="1783760" cy="4604025"/>
          </a:xfrm>
          <a:prstGeom prst="line">
            <a:avLst/>
          </a:prstGeom>
          <a:ln w="571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51AE9F0-97FD-D7B4-FD06-18E28425CB23}"/>
              </a:ext>
            </a:extLst>
          </p:cNvPr>
          <p:cNvSpPr/>
          <p:nvPr/>
        </p:nvSpPr>
        <p:spPr>
          <a:xfrm flipH="1">
            <a:off x="20819434" y="4786046"/>
            <a:ext cx="654497" cy="3825783"/>
          </a:xfrm>
          <a:prstGeom prst="line">
            <a:avLst/>
          </a:prstGeom>
          <a:ln w="571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5CFD0F9E-7370-F854-AC01-CAC40D39BC09}"/>
              </a:ext>
            </a:extLst>
          </p:cNvPr>
          <p:cNvSpPr/>
          <p:nvPr/>
        </p:nvSpPr>
        <p:spPr>
          <a:xfrm flipH="1">
            <a:off x="20331916" y="6463523"/>
            <a:ext cx="2465985" cy="2627790"/>
          </a:xfrm>
          <a:prstGeom prst="line">
            <a:avLst/>
          </a:prstGeom>
          <a:ln w="571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D28A8B32-B965-5882-FD81-1805F028A6D0}"/>
              </a:ext>
            </a:extLst>
          </p:cNvPr>
          <p:cNvSpPr txBox="1"/>
          <p:nvPr/>
        </p:nvSpPr>
        <p:spPr>
          <a:xfrm>
            <a:off x="2252436" y="3697752"/>
            <a:ext cx="4912992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1513332">
              <a:lnSpc>
                <a:spcPts val="6145"/>
              </a:lnSpc>
            </a:pPr>
            <a:r>
              <a:rPr lang="en-US" sz="5121" spc="255">
                <a:solidFill>
                  <a:srgbClr val="FF0000"/>
                </a:solidFill>
                <a:latin typeface="Lexend Zetta"/>
                <a:ea typeface="Lexend Zetta"/>
                <a:cs typeface="Lexend Zetta"/>
                <a:sym typeface="Lexend Zetta"/>
              </a:rPr>
              <a:t>COVID-19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80665237-924E-6B8C-95E3-D602BF7CC1C9}"/>
              </a:ext>
            </a:extLst>
          </p:cNvPr>
          <p:cNvSpPr txBox="1"/>
          <p:nvPr/>
        </p:nvSpPr>
        <p:spPr>
          <a:xfrm>
            <a:off x="3656315" y="2346897"/>
            <a:ext cx="4634948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513332">
              <a:lnSpc>
                <a:spcPts val="7567"/>
              </a:lnSpc>
              <a:spcBef>
                <a:spcPct val="0"/>
              </a:spcBef>
            </a:pPr>
            <a:r>
              <a:rPr lang="en-US" sz="6878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CONTEXT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C6A7F88-08E7-FA5B-AA9D-61336297362B}"/>
              </a:ext>
            </a:extLst>
          </p:cNvPr>
          <p:cNvSpPr txBox="1"/>
          <p:nvPr/>
        </p:nvSpPr>
        <p:spPr>
          <a:xfrm>
            <a:off x="751616" y="5173513"/>
            <a:ext cx="7905742" cy="37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1513332">
              <a:lnSpc>
                <a:spcPts val="3072"/>
              </a:lnSpc>
            </a:pPr>
            <a:r>
              <a:rPr lang="en-US" sz="2560" spc="127">
                <a:solidFill>
                  <a:srgbClr val="FF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ACCESS TO TRAINING OPTIONS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D83C489B-D9C7-D399-C676-FD50B535D798}"/>
              </a:ext>
            </a:extLst>
          </p:cNvPr>
          <p:cNvSpPr txBox="1"/>
          <p:nvPr/>
        </p:nvSpPr>
        <p:spPr>
          <a:xfrm>
            <a:off x="756061" y="6233483"/>
            <a:ext cx="7905742" cy="37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1513332">
              <a:lnSpc>
                <a:spcPts val="3072"/>
              </a:lnSpc>
            </a:pPr>
            <a:r>
              <a:rPr lang="en-US" sz="2560" spc="127">
                <a:solidFill>
                  <a:srgbClr val="FF0000"/>
                </a:solidFill>
                <a:latin typeface="Lexend Deca"/>
                <a:ea typeface="Lexend Deca"/>
                <a:cs typeface="Lexend Deca"/>
                <a:sym typeface="Lexend Deca"/>
              </a:rPr>
              <a:t>RELIANCE ON HOME-BASED SOLUTIONS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03995187-42DA-EB6C-4420-AB18CCA08E2E}"/>
              </a:ext>
            </a:extLst>
          </p:cNvPr>
          <p:cNvSpPr txBox="1"/>
          <p:nvPr/>
        </p:nvSpPr>
        <p:spPr>
          <a:xfrm>
            <a:off x="756061" y="7293453"/>
            <a:ext cx="7905742" cy="77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1513332">
              <a:lnSpc>
                <a:spcPts val="3072"/>
              </a:lnSpc>
            </a:pPr>
            <a:r>
              <a:rPr lang="en-US" sz="2560" spc="127">
                <a:solidFill>
                  <a:srgbClr val="FF0000"/>
                </a:solidFill>
                <a:latin typeface="Lexend Zetta"/>
                <a:ea typeface="Lexend Zetta"/>
                <a:cs typeface="Lexend Zetta"/>
                <a:sym typeface="Lexend Zetta"/>
              </a:rPr>
              <a:t>NEED FOR FLEXIBLE, INNOVATIVE SOLUTIONS FOR BOXING TRAINING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A4B8849-B939-0A72-5A4A-412FEEB355CF}"/>
              </a:ext>
            </a:extLst>
          </p:cNvPr>
          <p:cNvSpPr txBox="1"/>
          <p:nvPr/>
        </p:nvSpPr>
        <p:spPr>
          <a:xfrm>
            <a:off x="2081404" y="9532563"/>
            <a:ext cx="5250611" cy="29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1513332">
              <a:lnSpc>
                <a:spcPts val="7567"/>
              </a:lnSpc>
              <a:spcBef>
                <a:spcPct val="0"/>
              </a:spcBef>
            </a:pPr>
            <a:r>
              <a:rPr lang="en-US" sz="6878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CURRENT SOLUTIONS?</a:t>
            </a:r>
          </a:p>
        </p:txBody>
      </p:sp>
      <p:grpSp>
        <p:nvGrpSpPr>
          <p:cNvPr id="45" name="Group 45">
            <a:extLst>
              <a:ext uri="{FF2B5EF4-FFF2-40B4-BE49-F238E27FC236}">
                <a16:creationId xmlns:a16="http://schemas.microsoft.com/office/drawing/2014/main" id="{41436C1B-8708-1600-1F11-70A290C34951}"/>
              </a:ext>
            </a:extLst>
          </p:cNvPr>
          <p:cNvGrpSpPr/>
          <p:nvPr/>
        </p:nvGrpSpPr>
        <p:grpSpPr>
          <a:xfrm>
            <a:off x="9426688" y="2409756"/>
            <a:ext cx="13527997" cy="2058494"/>
            <a:chOff x="0" y="0"/>
            <a:chExt cx="10898461" cy="165837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EF314E2B-A7CC-30E6-4246-CE181F2C1F54}"/>
                </a:ext>
              </a:extLst>
            </p:cNvPr>
            <p:cNvSpPr/>
            <p:nvPr/>
          </p:nvSpPr>
          <p:spPr>
            <a:xfrm>
              <a:off x="0" y="37182"/>
              <a:ext cx="767527" cy="834593"/>
            </a:xfrm>
            <a:custGeom>
              <a:avLst/>
              <a:gdLst/>
              <a:ahLst/>
              <a:cxnLst/>
              <a:rect l="l" t="t" r="r" b="b"/>
              <a:pathLst>
                <a:path w="767527" h="834593">
                  <a:moveTo>
                    <a:pt x="0" y="0"/>
                  </a:moveTo>
                  <a:lnTo>
                    <a:pt x="767527" y="0"/>
                  </a:lnTo>
                  <a:lnTo>
                    <a:pt x="767527" y="834592"/>
                  </a:lnTo>
                  <a:lnTo>
                    <a:pt x="0" y="83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7" name="Group 47">
              <a:extLst>
                <a:ext uri="{FF2B5EF4-FFF2-40B4-BE49-F238E27FC236}">
                  <a16:creationId xmlns:a16="http://schemas.microsoft.com/office/drawing/2014/main" id="{BA24DC32-14C9-C3F5-0B78-C756B57E1356}"/>
                </a:ext>
              </a:extLst>
            </p:cNvPr>
            <p:cNvGrpSpPr/>
            <p:nvPr/>
          </p:nvGrpSpPr>
          <p:grpSpPr>
            <a:xfrm>
              <a:off x="780792" y="88008"/>
              <a:ext cx="9347073" cy="778025"/>
              <a:chOff x="0" y="0"/>
              <a:chExt cx="1435114" cy="119455"/>
            </a:xfrm>
          </p:grpSpPr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E783217B-76E3-9153-4769-9FBD799A0FBE}"/>
                  </a:ext>
                </a:extLst>
              </p:cNvPr>
              <p:cNvSpPr/>
              <p:nvPr/>
            </p:nvSpPr>
            <p:spPr>
              <a:xfrm>
                <a:off x="0" y="0"/>
                <a:ext cx="1435114" cy="119455"/>
              </a:xfrm>
              <a:custGeom>
                <a:avLst/>
                <a:gdLst/>
                <a:ahLst/>
                <a:cxnLst/>
                <a:rect l="l" t="t" r="r" b="b"/>
                <a:pathLst>
                  <a:path w="1435114" h="119455">
                    <a:moveTo>
                      <a:pt x="20505" y="0"/>
                    </a:moveTo>
                    <a:lnTo>
                      <a:pt x="1414609" y="0"/>
                    </a:lnTo>
                    <a:cubicBezTo>
                      <a:pt x="1420047" y="0"/>
                      <a:pt x="1425263" y="2160"/>
                      <a:pt x="1429108" y="6006"/>
                    </a:cubicBezTo>
                    <a:cubicBezTo>
                      <a:pt x="1432954" y="9851"/>
                      <a:pt x="1435114" y="15067"/>
                      <a:pt x="1435114" y="20505"/>
                    </a:cubicBezTo>
                    <a:lnTo>
                      <a:pt x="1435114" y="98950"/>
                    </a:lnTo>
                    <a:cubicBezTo>
                      <a:pt x="1435114" y="104388"/>
                      <a:pt x="1432954" y="109604"/>
                      <a:pt x="1429108" y="113449"/>
                    </a:cubicBezTo>
                    <a:cubicBezTo>
                      <a:pt x="1425263" y="117295"/>
                      <a:pt x="1420047" y="119455"/>
                      <a:pt x="1414609" y="119455"/>
                    </a:cubicBezTo>
                    <a:lnTo>
                      <a:pt x="20505" y="119455"/>
                    </a:lnTo>
                    <a:cubicBezTo>
                      <a:pt x="15067" y="119455"/>
                      <a:pt x="9851" y="117295"/>
                      <a:pt x="6006" y="113449"/>
                    </a:cubicBezTo>
                    <a:cubicBezTo>
                      <a:pt x="2160" y="109604"/>
                      <a:pt x="0" y="104388"/>
                      <a:pt x="0" y="98950"/>
                    </a:cubicBezTo>
                    <a:lnTo>
                      <a:pt x="0" y="20505"/>
                    </a:lnTo>
                    <a:cubicBezTo>
                      <a:pt x="0" y="15067"/>
                      <a:pt x="2160" y="9851"/>
                      <a:pt x="6006" y="6006"/>
                    </a:cubicBezTo>
                    <a:cubicBezTo>
                      <a:pt x="9851" y="2160"/>
                      <a:pt x="15067" y="0"/>
                      <a:pt x="20505" y="0"/>
                    </a:cubicBezTo>
                    <a:close/>
                  </a:path>
                </a:pathLst>
              </a:custGeom>
              <a:solidFill>
                <a:srgbClr val="9E1D0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9" name="TextBox 49">
                <a:extLst>
                  <a:ext uri="{FF2B5EF4-FFF2-40B4-BE49-F238E27FC236}">
                    <a16:creationId xmlns:a16="http://schemas.microsoft.com/office/drawing/2014/main" id="{0C9EA15F-B5B7-8CDA-7831-5E3465A5BB08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1435114" cy="100405"/>
              </a:xfrm>
              <a:prstGeom prst="rect">
                <a:avLst/>
              </a:prstGeom>
            </p:spPr>
            <p:txBody>
              <a:bodyPr lIns="210189" tIns="210189" rIns="210189" bIns="210189" rtlCol="0" anchor="ctr"/>
              <a:lstStyle/>
              <a:p>
                <a:pPr algn="ctr" defTabSz="1513332">
                  <a:lnSpc>
                    <a:spcPts val="4507"/>
                  </a:lnSpc>
                </a:pPr>
                <a:endParaRPr sz="2979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1E37F75F-9D10-FA21-DF69-0C7C0C1E26A0}"/>
                </a:ext>
              </a:extLst>
            </p:cNvPr>
            <p:cNvSpPr/>
            <p:nvPr/>
          </p:nvSpPr>
          <p:spPr>
            <a:xfrm flipH="1">
              <a:off x="10130934" y="0"/>
              <a:ext cx="767527" cy="834593"/>
            </a:xfrm>
            <a:custGeom>
              <a:avLst/>
              <a:gdLst/>
              <a:ahLst/>
              <a:cxnLst/>
              <a:rect l="l" t="t" r="r" b="b"/>
              <a:pathLst>
                <a:path w="767527" h="834593">
                  <a:moveTo>
                    <a:pt x="767527" y="0"/>
                  </a:moveTo>
                  <a:lnTo>
                    <a:pt x="0" y="0"/>
                  </a:lnTo>
                  <a:lnTo>
                    <a:pt x="0" y="834593"/>
                  </a:lnTo>
                  <a:lnTo>
                    <a:pt x="767527" y="834593"/>
                  </a:lnTo>
                  <a:lnTo>
                    <a:pt x="767527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708466A-98B5-2CB5-7D6D-1CEADFB6D486}"/>
                </a:ext>
              </a:extLst>
            </p:cNvPr>
            <p:cNvSpPr txBox="1"/>
            <p:nvPr/>
          </p:nvSpPr>
          <p:spPr>
            <a:xfrm>
              <a:off x="1294377" y="88008"/>
              <a:ext cx="8319901" cy="1570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513332">
                <a:lnSpc>
                  <a:spcPts val="7567"/>
                </a:lnSpc>
                <a:spcBef>
                  <a:spcPct val="0"/>
                </a:spcBef>
              </a:pPr>
              <a:r>
                <a:rPr lang="en-US" sz="6878" dirty="0" err="1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BoxBUNNY</a:t>
              </a:r>
              <a:r>
                <a:rPr lang="en-US" sz="6878" dirty="0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: for boxers-in-development!</a:t>
              </a:r>
            </a:p>
          </p:txBody>
        </p:sp>
      </p:grpSp>
      <p:grpSp>
        <p:nvGrpSpPr>
          <p:cNvPr id="52" name="Group 52">
            <a:extLst>
              <a:ext uri="{FF2B5EF4-FFF2-40B4-BE49-F238E27FC236}">
                <a16:creationId xmlns:a16="http://schemas.microsoft.com/office/drawing/2014/main" id="{DC03D436-85E0-AE98-9238-E3BFEEF61A5D}"/>
              </a:ext>
            </a:extLst>
          </p:cNvPr>
          <p:cNvGrpSpPr/>
          <p:nvPr/>
        </p:nvGrpSpPr>
        <p:grpSpPr>
          <a:xfrm>
            <a:off x="751616" y="11334673"/>
            <a:ext cx="7737977" cy="5312595"/>
            <a:chOff x="0" y="0"/>
            <a:chExt cx="6233890" cy="4279945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28304370-DF3E-8657-0109-56E225A075AD}"/>
                </a:ext>
              </a:extLst>
            </p:cNvPr>
            <p:cNvSpPr/>
            <p:nvPr/>
          </p:nvSpPr>
          <p:spPr>
            <a:xfrm>
              <a:off x="39563" y="1906391"/>
              <a:ext cx="495960" cy="685265"/>
            </a:xfrm>
            <a:custGeom>
              <a:avLst/>
              <a:gdLst/>
              <a:ahLst/>
              <a:cxnLst/>
              <a:rect l="l" t="t" r="r" b="b"/>
              <a:pathLst>
                <a:path w="495960" h="685265">
                  <a:moveTo>
                    <a:pt x="0" y="0"/>
                  </a:moveTo>
                  <a:lnTo>
                    <a:pt x="495960" y="0"/>
                  </a:lnTo>
                  <a:lnTo>
                    <a:pt x="495960" y="685265"/>
                  </a:lnTo>
                  <a:lnTo>
                    <a:pt x="0" y="685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93F31635-2BFF-9F89-0378-4F2948FB8C40}"/>
                </a:ext>
              </a:extLst>
            </p:cNvPr>
            <p:cNvSpPr/>
            <p:nvPr/>
          </p:nvSpPr>
          <p:spPr>
            <a:xfrm>
              <a:off x="0" y="3671520"/>
              <a:ext cx="535523" cy="604258"/>
            </a:xfrm>
            <a:custGeom>
              <a:avLst/>
              <a:gdLst/>
              <a:ahLst/>
              <a:cxnLst/>
              <a:rect l="l" t="t" r="r" b="b"/>
              <a:pathLst>
                <a:path w="535523" h="604258">
                  <a:moveTo>
                    <a:pt x="0" y="0"/>
                  </a:moveTo>
                  <a:lnTo>
                    <a:pt x="535523" y="0"/>
                  </a:lnTo>
                  <a:lnTo>
                    <a:pt x="535523" y="604258"/>
                  </a:lnTo>
                  <a:lnTo>
                    <a:pt x="0" y="604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CACC4CB3-9016-CC60-AF45-94EF355B12B8}"/>
                </a:ext>
              </a:extLst>
            </p:cNvPr>
            <p:cNvSpPr/>
            <p:nvPr/>
          </p:nvSpPr>
          <p:spPr>
            <a:xfrm>
              <a:off x="66037" y="128982"/>
              <a:ext cx="403450" cy="685265"/>
            </a:xfrm>
            <a:custGeom>
              <a:avLst/>
              <a:gdLst/>
              <a:ahLst/>
              <a:cxnLst/>
              <a:rect l="l" t="t" r="r" b="b"/>
              <a:pathLst>
                <a:path w="403450" h="685265">
                  <a:moveTo>
                    <a:pt x="0" y="0"/>
                  </a:moveTo>
                  <a:lnTo>
                    <a:pt x="403450" y="0"/>
                  </a:lnTo>
                  <a:lnTo>
                    <a:pt x="403450" y="685264"/>
                  </a:lnTo>
                  <a:lnTo>
                    <a:pt x="0" y="685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653F3274-42FA-3A4F-C49C-5D27ECE69EEC}"/>
                </a:ext>
              </a:extLst>
            </p:cNvPr>
            <p:cNvSpPr txBox="1"/>
            <p:nvPr/>
          </p:nvSpPr>
          <p:spPr>
            <a:xfrm>
              <a:off x="801637" y="0"/>
              <a:ext cx="5432253" cy="940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Zetta"/>
                  <a:ea typeface="Lexend Zetta"/>
                  <a:cs typeface="Lexend Zetta"/>
                  <a:sym typeface="Lexend Zetta"/>
                </a:rPr>
                <a:t>BOXING CLASSES DON’T ACCOMMODATE TO VARYING SKILL LEVELS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5295EA25-F7B1-C6EC-565D-D20B6F2DF6D6}"/>
                </a:ext>
              </a:extLst>
            </p:cNvPr>
            <p:cNvSpPr txBox="1"/>
            <p:nvPr/>
          </p:nvSpPr>
          <p:spPr>
            <a:xfrm>
              <a:off x="801637" y="1777409"/>
              <a:ext cx="5432253" cy="620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Zetta"/>
                  <a:ea typeface="Lexend Zetta"/>
                  <a:cs typeface="Lexend Zetta"/>
                  <a:sym typeface="Lexend Zetta"/>
                </a:rPr>
                <a:t>TRAINING WITH ANOTHER PERSON IMPOSES INJURY RISKS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02FE3096-E95E-A02C-0418-7557B1EB6645}"/>
                </a:ext>
              </a:extLst>
            </p:cNvPr>
            <p:cNvSpPr txBox="1"/>
            <p:nvPr/>
          </p:nvSpPr>
          <p:spPr>
            <a:xfrm>
              <a:off x="801637" y="3659240"/>
              <a:ext cx="5432253" cy="620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Zetta"/>
                  <a:ea typeface="Lexend Zetta"/>
                  <a:cs typeface="Lexend Zetta"/>
                  <a:sym typeface="Lexend Zetta"/>
                </a:rPr>
                <a:t>PERSONAL TRAINERS ARE LIMITED AND EXPENSIVE</a:t>
              </a:r>
            </a:p>
          </p:txBody>
        </p:sp>
      </p:grpSp>
      <p:sp>
        <p:nvSpPr>
          <p:cNvPr id="59" name="TextBox 59">
            <a:extLst>
              <a:ext uri="{FF2B5EF4-FFF2-40B4-BE49-F238E27FC236}">
                <a16:creationId xmlns:a16="http://schemas.microsoft.com/office/drawing/2014/main" id="{74F55783-C2E3-88BB-B14B-D1B110A90324}"/>
              </a:ext>
            </a:extLst>
          </p:cNvPr>
          <p:cNvSpPr txBox="1"/>
          <p:nvPr/>
        </p:nvSpPr>
        <p:spPr>
          <a:xfrm>
            <a:off x="9780399" y="13996016"/>
            <a:ext cx="6680948" cy="155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42" lvl="1" indent="-331720" defTabSz="1513332">
              <a:lnSpc>
                <a:spcPts val="4301"/>
              </a:lnSpc>
              <a:buFont typeface="Arial"/>
              <a:buChar char="•"/>
            </a:pPr>
            <a:r>
              <a:rPr lang="en-US" sz="3072" b="1" i="1">
                <a:solidFill>
                  <a:srgbClr val="FFFFFF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COMBO MODE</a:t>
            </a:r>
          </a:p>
          <a:p>
            <a:pPr defTabSz="1513332">
              <a:lnSpc>
                <a:spcPts val="1433"/>
              </a:lnSpc>
            </a:pPr>
            <a:endParaRPr lang="en-US" sz="3072" b="1" i="1">
              <a:solidFill>
                <a:srgbClr val="FFFFFF"/>
              </a:solidFill>
              <a:latin typeface="Red Hat Display Bold Italics"/>
              <a:ea typeface="Red Hat Display Bold Italics"/>
              <a:cs typeface="Red Hat Display Bold Italics"/>
              <a:sym typeface="Red Hat Display Bold Italics"/>
            </a:endParaRPr>
          </a:p>
          <a:p>
            <a:pPr defTabSz="1513332">
              <a:lnSpc>
                <a:spcPts val="3154"/>
              </a:lnSpc>
            </a:pPr>
            <a:r>
              <a:rPr lang="en-US" sz="286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Personalised training for your punching combinations</a:t>
            </a:r>
          </a:p>
        </p:txBody>
      </p:sp>
      <p:grpSp>
        <p:nvGrpSpPr>
          <p:cNvPr id="60" name="Group 60">
            <a:extLst>
              <a:ext uri="{FF2B5EF4-FFF2-40B4-BE49-F238E27FC236}">
                <a16:creationId xmlns:a16="http://schemas.microsoft.com/office/drawing/2014/main" id="{A26FCCAE-9913-F2BD-392C-B15B79073DBB}"/>
              </a:ext>
            </a:extLst>
          </p:cNvPr>
          <p:cNvGrpSpPr/>
          <p:nvPr/>
        </p:nvGrpSpPr>
        <p:grpSpPr>
          <a:xfrm>
            <a:off x="9780400" y="12962203"/>
            <a:ext cx="3776996" cy="2423741"/>
            <a:chOff x="0" y="-9525"/>
            <a:chExt cx="3042834" cy="1952620"/>
          </a:xfrm>
        </p:grpSpPr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BF7FF473-220F-DC7E-0D59-1E7A6FA6A62B}"/>
                </a:ext>
              </a:extLst>
            </p:cNvPr>
            <p:cNvGrpSpPr/>
            <p:nvPr/>
          </p:nvGrpSpPr>
          <p:grpSpPr>
            <a:xfrm>
              <a:off x="0" y="6619"/>
              <a:ext cx="3042834" cy="632167"/>
              <a:chOff x="0" y="0"/>
              <a:chExt cx="563189" cy="117006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E07E2040-8CE1-B7B5-8F4F-D5190F702649}"/>
                  </a:ext>
                </a:extLst>
              </p:cNvPr>
              <p:cNvSpPr/>
              <p:nvPr/>
            </p:nvSpPr>
            <p:spPr>
              <a:xfrm>
                <a:off x="0" y="0"/>
                <a:ext cx="563189" cy="117006"/>
              </a:xfrm>
              <a:custGeom>
                <a:avLst/>
                <a:gdLst/>
                <a:ahLst/>
                <a:cxnLst/>
                <a:rect l="l" t="t" r="r" b="b"/>
                <a:pathLst>
                  <a:path w="563189" h="117006">
                    <a:moveTo>
                      <a:pt x="58503" y="0"/>
                    </a:moveTo>
                    <a:lnTo>
                      <a:pt x="504686" y="0"/>
                    </a:lnTo>
                    <a:cubicBezTo>
                      <a:pt x="536996" y="0"/>
                      <a:pt x="563189" y="26193"/>
                      <a:pt x="563189" y="58503"/>
                    </a:cubicBezTo>
                    <a:lnTo>
                      <a:pt x="563189" y="58503"/>
                    </a:lnTo>
                    <a:cubicBezTo>
                      <a:pt x="563189" y="74019"/>
                      <a:pt x="557025" y="88899"/>
                      <a:pt x="546054" y="99871"/>
                    </a:cubicBezTo>
                    <a:cubicBezTo>
                      <a:pt x="535082" y="110842"/>
                      <a:pt x="520202" y="117006"/>
                      <a:pt x="504686" y="117006"/>
                    </a:cubicBezTo>
                    <a:lnTo>
                      <a:pt x="58503" y="117006"/>
                    </a:lnTo>
                    <a:cubicBezTo>
                      <a:pt x="26193" y="117006"/>
                      <a:pt x="0" y="90813"/>
                      <a:pt x="0" y="58503"/>
                    </a:cubicBezTo>
                    <a:lnTo>
                      <a:pt x="0" y="58503"/>
                    </a:lnTo>
                    <a:cubicBezTo>
                      <a:pt x="0" y="26193"/>
                      <a:pt x="26193" y="0"/>
                      <a:pt x="58503" y="0"/>
                    </a:cubicBezTo>
                    <a:close/>
                  </a:path>
                </a:pathLst>
              </a:custGeom>
              <a:solidFill>
                <a:srgbClr val="9E1D0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482EB160-48E7-2915-E746-F052AC73F431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563189" cy="97956"/>
              </a:xfrm>
              <a:prstGeom prst="rect">
                <a:avLst/>
              </a:prstGeom>
            </p:spPr>
            <p:txBody>
              <a:bodyPr lIns="210189" tIns="210189" rIns="210189" bIns="210189" rtlCol="0" anchor="ctr"/>
              <a:lstStyle/>
              <a:p>
                <a:pPr algn="ctr" defTabSz="1513332">
                  <a:lnSpc>
                    <a:spcPts val="4507"/>
                  </a:lnSpc>
                </a:pPr>
                <a:endParaRPr sz="2979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64" name="TextBox 64">
              <a:extLst>
                <a:ext uri="{FF2B5EF4-FFF2-40B4-BE49-F238E27FC236}">
                  <a16:creationId xmlns:a16="http://schemas.microsoft.com/office/drawing/2014/main" id="{89966CCF-C28A-4DAE-2332-EF75E3BD115B}"/>
                </a:ext>
              </a:extLst>
            </p:cNvPr>
            <p:cNvSpPr txBox="1"/>
            <p:nvPr/>
          </p:nvSpPr>
          <p:spPr>
            <a:xfrm>
              <a:off x="233601" y="-9525"/>
              <a:ext cx="2491359" cy="1952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513332">
                <a:lnSpc>
                  <a:spcPts val="6277"/>
                </a:lnSpc>
                <a:spcBef>
                  <a:spcPct val="0"/>
                </a:spcBef>
              </a:pPr>
              <a:r>
                <a:rPr lang="en-US" sz="5706">
                  <a:solidFill>
                    <a:srgbClr val="FFFFFF"/>
                  </a:solidFill>
                  <a:latin typeface="Zuume Rough Bold"/>
                  <a:ea typeface="Zuume Rough Bold"/>
                  <a:cs typeface="Zuume Rough Bold"/>
                  <a:sym typeface="Zuume Rough Bold"/>
                </a:rPr>
                <a:t>KEY FEATURES</a:t>
              </a:r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EE61FAD6-903C-25AB-2F96-568B4424A340}"/>
              </a:ext>
            </a:extLst>
          </p:cNvPr>
          <p:cNvSpPr/>
          <p:nvPr/>
        </p:nvSpPr>
        <p:spPr>
          <a:xfrm flipH="1">
            <a:off x="10513545" y="10903919"/>
            <a:ext cx="5902059" cy="1589701"/>
          </a:xfrm>
          <a:custGeom>
            <a:avLst/>
            <a:gdLst/>
            <a:ahLst/>
            <a:cxnLst/>
            <a:rect l="l" t="t" r="r" b="b"/>
            <a:pathLst>
              <a:path w="3566124" h="960524">
                <a:moveTo>
                  <a:pt x="3566125" y="0"/>
                </a:moveTo>
                <a:lnTo>
                  <a:pt x="0" y="0"/>
                </a:lnTo>
                <a:lnTo>
                  <a:pt x="0" y="960524"/>
                </a:lnTo>
                <a:lnTo>
                  <a:pt x="3566125" y="960524"/>
                </a:lnTo>
                <a:lnTo>
                  <a:pt x="35661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193B6218-E90E-B55B-CFAF-FA39B8CB1FDB}"/>
              </a:ext>
            </a:extLst>
          </p:cNvPr>
          <p:cNvSpPr txBox="1"/>
          <p:nvPr/>
        </p:nvSpPr>
        <p:spPr>
          <a:xfrm>
            <a:off x="12784997" y="11003746"/>
            <a:ext cx="349350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154"/>
              </a:lnSpc>
              <a:spcBef>
                <a:spcPct val="0"/>
              </a:spcBef>
            </a:pPr>
            <a:r>
              <a:rPr lang="en-US" sz="286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Mecanum Wheels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13D57CEE-0B9B-A4B2-EA60-35CF2F9D629F}"/>
              </a:ext>
            </a:extLst>
          </p:cNvPr>
          <p:cNvSpPr txBox="1"/>
          <p:nvPr/>
        </p:nvSpPr>
        <p:spPr>
          <a:xfrm>
            <a:off x="10922933" y="11567072"/>
            <a:ext cx="5323614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1513332">
              <a:lnSpc>
                <a:spcPts val="3267"/>
              </a:lnSpc>
              <a:spcBef>
                <a:spcPct val="0"/>
              </a:spcBef>
            </a:pPr>
            <a:r>
              <a:rPr lang="en-US" sz="296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Enhanced maneuverability ideal for dynamic environments</a:t>
            </a: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id="{D854FC1B-A63C-AD13-516C-020C5390656B}"/>
              </a:ext>
            </a:extLst>
          </p:cNvPr>
          <p:cNvGrpSpPr/>
          <p:nvPr/>
        </p:nvGrpSpPr>
        <p:grpSpPr>
          <a:xfrm>
            <a:off x="9780399" y="4254294"/>
            <a:ext cx="9875245" cy="2150923"/>
            <a:chOff x="0" y="0"/>
            <a:chExt cx="7955720" cy="1732834"/>
          </a:xfrm>
        </p:grpSpPr>
        <p:sp>
          <p:nvSpPr>
            <p:cNvPr id="69" name="Freeform 69">
              <a:extLst>
                <a:ext uri="{FF2B5EF4-FFF2-40B4-BE49-F238E27FC236}">
                  <a16:creationId xmlns:a16="http://schemas.microsoft.com/office/drawing/2014/main" id="{03CB8C35-D2D0-7667-5D0D-415001002AF3}"/>
                </a:ext>
              </a:extLst>
            </p:cNvPr>
            <p:cNvSpPr/>
            <p:nvPr/>
          </p:nvSpPr>
          <p:spPr>
            <a:xfrm>
              <a:off x="45380" y="0"/>
              <a:ext cx="429144" cy="464624"/>
            </a:xfrm>
            <a:custGeom>
              <a:avLst/>
              <a:gdLst/>
              <a:ahLst/>
              <a:cxnLst/>
              <a:rect l="l" t="t" r="r" b="b"/>
              <a:pathLst>
                <a:path w="429144" h="464624">
                  <a:moveTo>
                    <a:pt x="0" y="0"/>
                  </a:moveTo>
                  <a:lnTo>
                    <a:pt x="429144" y="0"/>
                  </a:lnTo>
                  <a:lnTo>
                    <a:pt x="429144" y="464624"/>
                  </a:lnTo>
                  <a:lnTo>
                    <a:pt x="0" y="46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TextBox 70">
              <a:extLst>
                <a:ext uri="{FF2B5EF4-FFF2-40B4-BE49-F238E27FC236}">
                  <a16:creationId xmlns:a16="http://schemas.microsoft.com/office/drawing/2014/main" id="{47D8F334-3505-4AEE-B4DB-A9A12E5B622F}"/>
                </a:ext>
              </a:extLst>
            </p:cNvPr>
            <p:cNvSpPr txBox="1"/>
            <p:nvPr/>
          </p:nvSpPr>
          <p:spPr>
            <a:xfrm>
              <a:off x="569129" y="75107"/>
              <a:ext cx="6168110" cy="300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Exa"/>
                  <a:ea typeface="Lexend Exa"/>
                  <a:cs typeface="Lexend Exa"/>
                  <a:sym typeface="Lexend Exa"/>
                </a:rPr>
                <a:t>IMMERSIVE AND ENRICHING</a:t>
              </a:r>
            </a:p>
          </p:txBody>
        </p:sp>
        <p:sp>
          <p:nvSpPr>
            <p:cNvPr id="71" name="TextBox 71">
              <a:extLst>
                <a:ext uri="{FF2B5EF4-FFF2-40B4-BE49-F238E27FC236}">
                  <a16:creationId xmlns:a16="http://schemas.microsoft.com/office/drawing/2014/main" id="{37BF7D5D-3197-291C-1F82-F80BE7CB788E}"/>
                </a:ext>
              </a:extLst>
            </p:cNvPr>
            <p:cNvSpPr txBox="1"/>
            <p:nvPr/>
          </p:nvSpPr>
          <p:spPr>
            <a:xfrm>
              <a:off x="557348" y="695546"/>
              <a:ext cx="7386591" cy="300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Exa"/>
                  <a:ea typeface="Lexend Exa"/>
                  <a:cs typeface="Lexend Exa"/>
                  <a:sym typeface="Lexend Exa"/>
                </a:rPr>
                <a:t>PROGRESSIVE AND PERSONALISED</a:t>
              </a:r>
            </a:p>
          </p:txBody>
        </p:sp>
        <p:sp>
          <p:nvSpPr>
            <p:cNvPr id="72" name="TextBox 72">
              <a:extLst>
                <a:ext uri="{FF2B5EF4-FFF2-40B4-BE49-F238E27FC236}">
                  <a16:creationId xmlns:a16="http://schemas.microsoft.com/office/drawing/2014/main" id="{7A9573D5-7FD5-D579-D738-5C2CADD1A355}"/>
                </a:ext>
              </a:extLst>
            </p:cNvPr>
            <p:cNvSpPr txBox="1"/>
            <p:nvPr/>
          </p:nvSpPr>
          <p:spPr>
            <a:xfrm>
              <a:off x="569129" y="1343317"/>
              <a:ext cx="7386591" cy="300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3072"/>
                </a:lnSpc>
              </a:pPr>
              <a:r>
                <a:rPr lang="en-US" sz="2560" spc="127">
                  <a:solidFill>
                    <a:srgbClr val="FF0000"/>
                  </a:solidFill>
                  <a:latin typeface="Lexend Exa"/>
                  <a:ea typeface="Lexend Exa"/>
                  <a:cs typeface="Lexend Exa"/>
                  <a:sym typeface="Lexend Exa"/>
                </a:rPr>
                <a:t>EASILY ACCESIBLE!</a:t>
              </a:r>
            </a:p>
          </p:txBody>
        </p:sp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2E272E8F-E75C-9983-C997-490DB855E536}"/>
                </a:ext>
              </a:extLst>
            </p:cNvPr>
            <p:cNvSpPr/>
            <p:nvPr/>
          </p:nvSpPr>
          <p:spPr>
            <a:xfrm>
              <a:off x="45380" y="620438"/>
              <a:ext cx="429144" cy="464624"/>
            </a:xfrm>
            <a:custGeom>
              <a:avLst/>
              <a:gdLst/>
              <a:ahLst/>
              <a:cxnLst/>
              <a:rect l="l" t="t" r="r" b="b"/>
              <a:pathLst>
                <a:path w="429144" h="464624">
                  <a:moveTo>
                    <a:pt x="0" y="0"/>
                  </a:moveTo>
                  <a:lnTo>
                    <a:pt x="429144" y="0"/>
                  </a:lnTo>
                  <a:lnTo>
                    <a:pt x="429144" y="464624"/>
                  </a:lnTo>
                  <a:lnTo>
                    <a:pt x="0" y="46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8DD73EA3-C474-3FED-1C4A-8258FF6728B5}"/>
                </a:ext>
              </a:extLst>
            </p:cNvPr>
            <p:cNvSpPr/>
            <p:nvPr/>
          </p:nvSpPr>
          <p:spPr>
            <a:xfrm>
              <a:off x="0" y="1268210"/>
              <a:ext cx="429144" cy="464624"/>
            </a:xfrm>
            <a:custGeom>
              <a:avLst/>
              <a:gdLst/>
              <a:ahLst/>
              <a:cxnLst/>
              <a:rect l="l" t="t" r="r" b="b"/>
              <a:pathLst>
                <a:path w="429144" h="464624">
                  <a:moveTo>
                    <a:pt x="0" y="0"/>
                  </a:moveTo>
                  <a:lnTo>
                    <a:pt x="429144" y="0"/>
                  </a:lnTo>
                  <a:lnTo>
                    <a:pt x="429144" y="464624"/>
                  </a:lnTo>
                  <a:lnTo>
                    <a:pt x="0" y="46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5" name="AutoShape 75">
            <a:extLst>
              <a:ext uri="{FF2B5EF4-FFF2-40B4-BE49-F238E27FC236}">
                <a16:creationId xmlns:a16="http://schemas.microsoft.com/office/drawing/2014/main" id="{91574DFB-EF58-EEF9-73D0-936AF97BFC66}"/>
              </a:ext>
            </a:extLst>
          </p:cNvPr>
          <p:cNvSpPr/>
          <p:nvPr/>
        </p:nvSpPr>
        <p:spPr>
          <a:xfrm>
            <a:off x="4708932" y="5668176"/>
            <a:ext cx="0" cy="448226"/>
          </a:xfrm>
          <a:prstGeom prst="line">
            <a:avLst/>
          </a:prstGeom>
          <a:ln w="190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AutoShape 76">
            <a:extLst>
              <a:ext uri="{FF2B5EF4-FFF2-40B4-BE49-F238E27FC236}">
                <a16:creationId xmlns:a16="http://schemas.microsoft.com/office/drawing/2014/main" id="{1FE964DB-6B3F-2722-738C-645914F61049}"/>
              </a:ext>
            </a:extLst>
          </p:cNvPr>
          <p:cNvSpPr/>
          <p:nvPr/>
        </p:nvSpPr>
        <p:spPr>
          <a:xfrm>
            <a:off x="4708932" y="6729611"/>
            <a:ext cx="0" cy="448226"/>
          </a:xfrm>
          <a:prstGeom prst="line">
            <a:avLst/>
          </a:prstGeom>
          <a:ln w="19050" cap="flat">
            <a:solidFill>
              <a:srgbClr val="FF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1513332"/>
            <a:endParaRPr lang="en-SG" sz="2979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7" name="Group 77">
            <a:extLst>
              <a:ext uri="{FF2B5EF4-FFF2-40B4-BE49-F238E27FC236}">
                <a16:creationId xmlns:a16="http://schemas.microsoft.com/office/drawing/2014/main" id="{7F2950C5-A879-9986-0745-CFA1411781A4}"/>
              </a:ext>
            </a:extLst>
          </p:cNvPr>
          <p:cNvGrpSpPr/>
          <p:nvPr/>
        </p:nvGrpSpPr>
        <p:grpSpPr>
          <a:xfrm>
            <a:off x="23600973" y="9211335"/>
            <a:ext cx="6339965" cy="8587406"/>
            <a:chOff x="0" y="0"/>
            <a:chExt cx="5107618" cy="6918208"/>
          </a:xfrm>
        </p:grpSpPr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id="{3341DEFD-821B-80A3-4915-79D881FA1D95}"/>
                </a:ext>
              </a:extLst>
            </p:cNvPr>
            <p:cNvGrpSpPr/>
            <p:nvPr/>
          </p:nvGrpSpPr>
          <p:grpSpPr>
            <a:xfrm>
              <a:off x="0" y="0"/>
              <a:ext cx="5107618" cy="6918208"/>
              <a:chOff x="0" y="0"/>
              <a:chExt cx="900448" cy="1219646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id="{BA6B3475-F50D-3BBC-3725-0B3EB015B306}"/>
                  </a:ext>
                </a:extLst>
              </p:cNvPr>
              <p:cNvSpPr/>
              <p:nvPr/>
            </p:nvSpPr>
            <p:spPr>
              <a:xfrm>
                <a:off x="0" y="0"/>
                <a:ext cx="900448" cy="1219646"/>
              </a:xfrm>
              <a:custGeom>
                <a:avLst/>
                <a:gdLst/>
                <a:ahLst/>
                <a:cxnLst/>
                <a:rect l="l" t="t" r="r" b="b"/>
                <a:pathLst>
                  <a:path w="900448" h="1219646">
                    <a:moveTo>
                      <a:pt x="62542" y="0"/>
                    </a:moveTo>
                    <a:lnTo>
                      <a:pt x="837906" y="0"/>
                    </a:lnTo>
                    <a:cubicBezTo>
                      <a:pt x="854493" y="0"/>
                      <a:pt x="870401" y="6589"/>
                      <a:pt x="882130" y="18318"/>
                    </a:cubicBezTo>
                    <a:cubicBezTo>
                      <a:pt x="893859" y="30047"/>
                      <a:pt x="900448" y="45955"/>
                      <a:pt x="900448" y="62542"/>
                    </a:cubicBezTo>
                    <a:lnTo>
                      <a:pt x="900448" y="1157104"/>
                    </a:lnTo>
                    <a:cubicBezTo>
                      <a:pt x="900448" y="1173691"/>
                      <a:pt x="893859" y="1189599"/>
                      <a:pt x="882130" y="1201328"/>
                    </a:cubicBezTo>
                    <a:cubicBezTo>
                      <a:pt x="870401" y="1213057"/>
                      <a:pt x="854493" y="1219646"/>
                      <a:pt x="837906" y="1219646"/>
                    </a:cubicBezTo>
                    <a:lnTo>
                      <a:pt x="62542" y="1219646"/>
                    </a:lnTo>
                    <a:cubicBezTo>
                      <a:pt x="45955" y="1219646"/>
                      <a:pt x="30047" y="1213057"/>
                      <a:pt x="18318" y="1201328"/>
                    </a:cubicBezTo>
                    <a:cubicBezTo>
                      <a:pt x="6589" y="1189599"/>
                      <a:pt x="0" y="1173691"/>
                      <a:pt x="0" y="1157104"/>
                    </a:cubicBezTo>
                    <a:lnTo>
                      <a:pt x="0" y="62542"/>
                    </a:lnTo>
                    <a:cubicBezTo>
                      <a:pt x="0" y="45955"/>
                      <a:pt x="6589" y="30047"/>
                      <a:pt x="18318" y="18318"/>
                    </a:cubicBezTo>
                    <a:cubicBezTo>
                      <a:pt x="30047" y="6589"/>
                      <a:pt x="45955" y="0"/>
                      <a:pt x="62542" y="0"/>
                    </a:cubicBezTo>
                    <a:close/>
                  </a:path>
                </a:pathLst>
              </a:custGeom>
              <a:solidFill>
                <a:srgbClr val="A0A7B0">
                  <a:alpha val="49804"/>
                </a:srgbClr>
              </a:solidFill>
              <a:ln w="9525" cap="rnd">
                <a:solidFill>
                  <a:srgbClr val="631809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id="{D47CD860-42A2-9CFA-49E0-0B7FC5916865}"/>
                  </a:ext>
                </a:extLst>
              </p:cNvPr>
              <p:cNvSpPr txBox="1"/>
              <p:nvPr/>
            </p:nvSpPr>
            <p:spPr>
              <a:xfrm>
                <a:off x="0" y="0"/>
                <a:ext cx="900448" cy="1219646"/>
              </a:xfrm>
              <a:prstGeom prst="rect">
                <a:avLst/>
              </a:prstGeom>
            </p:spPr>
            <p:txBody>
              <a:bodyPr lIns="73222" tIns="73222" rIns="73222" bIns="73222" rtlCol="0" anchor="t"/>
              <a:lstStyle/>
              <a:p>
                <a:pPr defTabSz="1513332">
                  <a:lnSpc>
                    <a:spcPts val="3441"/>
                  </a:lnSpc>
                </a:pPr>
                <a:endParaRPr sz="2979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BF376B28-AA00-8F9C-D883-BB44D2379EC1}"/>
                </a:ext>
              </a:extLst>
            </p:cNvPr>
            <p:cNvSpPr txBox="1"/>
            <p:nvPr/>
          </p:nvSpPr>
          <p:spPr>
            <a:xfrm>
              <a:off x="230699" y="245091"/>
              <a:ext cx="4646221" cy="271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513332">
                <a:lnSpc>
                  <a:spcPts val="2780"/>
                </a:lnSpc>
              </a:pPr>
              <a:r>
                <a:rPr lang="en-US" sz="2317" spc="116">
                  <a:solidFill>
                    <a:srgbClr val="FF0000"/>
                  </a:solidFill>
                  <a:latin typeface="Lexend Exa"/>
                  <a:ea typeface="Lexend Exa"/>
                  <a:cs typeface="Lexend Exa"/>
                  <a:sym typeface="Lexend Exa"/>
                </a:rPr>
                <a:t>TECHNICAL SPECIFICATIONS:</a:t>
              </a:r>
            </a:p>
          </p:txBody>
        </p:sp>
        <p:grpSp>
          <p:nvGrpSpPr>
            <p:cNvPr id="82" name="Group 82">
              <a:extLst>
                <a:ext uri="{FF2B5EF4-FFF2-40B4-BE49-F238E27FC236}">
                  <a16:creationId xmlns:a16="http://schemas.microsoft.com/office/drawing/2014/main" id="{555334A6-ABDE-FDC7-1B3F-ECEE35FAE397}"/>
                </a:ext>
              </a:extLst>
            </p:cNvPr>
            <p:cNvGrpSpPr/>
            <p:nvPr/>
          </p:nvGrpSpPr>
          <p:grpSpPr>
            <a:xfrm>
              <a:off x="2915513" y="723323"/>
              <a:ext cx="1927391" cy="513901"/>
              <a:chOff x="0" y="0"/>
              <a:chExt cx="582313" cy="155262"/>
            </a:xfrm>
          </p:grpSpPr>
          <p:sp>
            <p:nvSpPr>
              <p:cNvPr id="83" name="Freeform 83">
                <a:extLst>
                  <a:ext uri="{FF2B5EF4-FFF2-40B4-BE49-F238E27FC236}">
                    <a16:creationId xmlns:a16="http://schemas.microsoft.com/office/drawing/2014/main" id="{29DBCF4B-D883-318C-D9AF-49100303D026}"/>
                  </a:ext>
                </a:extLst>
              </p:cNvPr>
              <p:cNvSpPr/>
              <p:nvPr/>
            </p:nvSpPr>
            <p:spPr>
              <a:xfrm>
                <a:off x="0" y="0"/>
                <a:ext cx="582313" cy="155262"/>
              </a:xfrm>
              <a:custGeom>
                <a:avLst/>
                <a:gdLst/>
                <a:ahLst/>
                <a:cxnLst/>
                <a:rect l="l" t="t" r="r" b="b"/>
                <a:pathLst>
                  <a:path w="582313" h="155262">
                    <a:moveTo>
                      <a:pt x="77631" y="0"/>
                    </a:moveTo>
                    <a:lnTo>
                      <a:pt x="504681" y="0"/>
                    </a:lnTo>
                    <a:cubicBezTo>
                      <a:pt x="547556" y="0"/>
                      <a:pt x="582313" y="34757"/>
                      <a:pt x="582313" y="77631"/>
                    </a:cubicBezTo>
                    <a:lnTo>
                      <a:pt x="582313" y="77631"/>
                    </a:lnTo>
                    <a:cubicBezTo>
                      <a:pt x="582313" y="98220"/>
                      <a:pt x="574134" y="117966"/>
                      <a:pt x="559575" y="132525"/>
                    </a:cubicBezTo>
                    <a:cubicBezTo>
                      <a:pt x="545016" y="147083"/>
                      <a:pt x="525270" y="155262"/>
                      <a:pt x="504681" y="155262"/>
                    </a:cubicBezTo>
                    <a:lnTo>
                      <a:pt x="77631" y="155262"/>
                    </a:lnTo>
                    <a:cubicBezTo>
                      <a:pt x="57042" y="155262"/>
                      <a:pt x="37296" y="147083"/>
                      <a:pt x="22738" y="132525"/>
                    </a:cubicBezTo>
                    <a:cubicBezTo>
                      <a:pt x="8179" y="117966"/>
                      <a:pt x="0" y="98220"/>
                      <a:pt x="0" y="77631"/>
                    </a:cubicBezTo>
                    <a:lnTo>
                      <a:pt x="0" y="77631"/>
                    </a:lnTo>
                    <a:cubicBezTo>
                      <a:pt x="0" y="57042"/>
                      <a:pt x="8179" y="37296"/>
                      <a:pt x="22738" y="22738"/>
                    </a:cubicBezTo>
                    <a:cubicBezTo>
                      <a:pt x="37296" y="8179"/>
                      <a:pt x="57042" y="0"/>
                      <a:pt x="77631" y="0"/>
                    </a:cubicBezTo>
                    <a:close/>
                  </a:path>
                </a:pathLst>
              </a:custGeom>
              <a:solidFill>
                <a:srgbClr val="9E1D04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4" name="TextBox 84">
                <a:extLst>
                  <a:ext uri="{FF2B5EF4-FFF2-40B4-BE49-F238E27FC236}">
                    <a16:creationId xmlns:a16="http://schemas.microsoft.com/office/drawing/2014/main" id="{B9C53AB8-A7AB-BA22-434F-E8A1AB8DC36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82313" cy="18383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866"/>
                  </a:lnSpc>
                </a:pPr>
                <a:endParaRPr sz="2979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2D7ECBA0-396F-3ADF-2648-68EC0419E3F5}"/>
                </a:ext>
              </a:extLst>
            </p:cNvPr>
            <p:cNvSpPr/>
            <p:nvPr/>
          </p:nvSpPr>
          <p:spPr>
            <a:xfrm rot="-5400000" flipV="1">
              <a:off x="4541863" y="936183"/>
              <a:ext cx="301041" cy="301041"/>
            </a:xfrm>
            <a:custGeom>
              <a:avLst/>
              <a:gdLst/>
              <a:ahLst/>
              <a:cxnLst/>
              <a:rect l="l" t="t" r="r" b="b"/>
              <a:pathLst>
                <a:path w="301041" h="301041">
                  <a:moveTo>
                    <a:pt x="0" y="301041"/>
                  </a:moveTo>
                  <a:lnTo>
                    <a:pt x="301041" y="301041"/>
                  </a:lnTo>
                  <a:lnTo>
                    <a:pt x="301041" y="0"/>
                  </a:lnTo>
                  <a:lnTo>
                    <a:pt x="0" y="0"/>
                  </a:lnTo>
                  <a:lnTo>
                    <a:pt x="0" y="30104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Freeform 86">
              <a:extLst>
                <a:ext uri="{FF2B5EF4-FFF2-40B4-BE49-F238E27FC236}">
                  <a16:creationId xmlns:a16="http://schemas.microsoft.com/office/drawing/2014/main" id="{A2D37FAF-8913-B518-9163-4F1519C8B9E0}"/>
                </a:ext>
              </a:extLst>
            </p:cNvPr>
            <p:cNvSpPr/>
            <p:nvPr/>
          </p:nvSpPr>
          <p:spPr>
            <a:xfrm rot="-5400000">
              <a:off x="2915513" y="946326"/>
              <a:ext cx="291076" cy="291076"/>
            </a:xfrm>
            <a:custGeom>
              <a:avLst/>
              <a:gdLst/>
              <a:ahLst/>
              <a:cxnLst/>
              <a:rect l="l" t="t" r="r" b="b"/>
              <a:pathLst>
                <a:path w="291076" h="291076">
                  <a:moveTo>
                    <a:pt x="0" y="0"/>
                  </a:moveTo>
                  <a:lnTo>
                    <a:pt x="291076" y="0"/>
                  </a:lnTo>
                  <a:lnTo>
                    <a:pt x="291076" y="291076"/>
                  </a:lnTo>
                  <a:lnTo>
                    <a:pt x="0" y="291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1513332"/>
              <a:endParaRPr lang="en-SG" sz="2979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BBF2634D-FD4C-70DF-D89E-FA5A3FB0BA66}"/>
                </a:ext>
              </a:extLst>
            </p:cNvPr>
            <p:cNvSpPr txBox="1"/>
            <p:nvPr/>
          </p:nvSpPr>
          <p:spPr>
            <a:xfrm>
              <a:off x="2926766" y="823939"/>
              <a:ext cx="1916138" cy="235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513332">
                <a:lnSpc>
                  <a:spcPts val="2497"/>
                </a:lnSpc>
                <a:spcBef>
                  <a:spcPct val="0"/>
                </a:spcBef>
              </a:pPr>
              <a:r>
                <a:rPr lang="en-US" sz="1784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BOXBUNNY</a:t>
              </a:r>
            </a:p>
          </p:txBody>
        </p:sp>
        <p:sp>
          <p:nvSpPr>
            <p:cNvPr id="88" name="TextBox 88">
              <a:extLst>
                <a:ext uri="{FF2B5EF4-FFF2-40B4-BE49-F238E27FC236}">
                  <a16:creationId xmlns:a16="http://schemas.microsoft.com/office/drawing/2014/main" id="{E94CBAA1-96AE-4996-25E0-7A855A537D2E}"/>
                </a:ext>
              </a:extLst>
            </p:cNvPr>
            <p:cNvSpPr txBox="1"/>
            <p:nvPr/>
          </p:nvSpPr>
          <p:spPr>
            <a:xfrm>
              <a:off x="908808" y="800261"/>
              <a:ext cx="1255127" cy="235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1513332">
                <a:lnSpc>
                  <a:spcPts val="2497"/>
                </a:lnSpc>
                <a:spcBef>
                  <a:spcPct val="0"/>
                </a:spcBef>
              </a:pPr>
              <a:r>
                <a:rPr lang="en-US" sz="1784" b="1" spc="187">
                  <a:solidFill>
                    <a:srgbClr val="F5F0EC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ASPECT</a:t>
              </a:r>
            </a:p>
          </p:txBody>
        </p:sp>
        <p:grpSp>
          <p:nvGrpSpPr>
            <p:cNvPr id="89" name="Group 89">
              <a:extLst>
                <a:ext uri="{FF2B5EF4-FFF2-40B4-BE49-F238E27FC236}">
                  <a16:creationId xmlns:a16="http://schemas.microsoft.com/office/drawing/2014/main" id="{8A95083E-7573-DBAF-3831-1E0C5AF8B476}"/>
                </a:ext>
              </a:extLst>
            </p:cNvPr>
            <p:cNvGrpSpPr/>
            <p:nvPr/>
          </p:nvGrpSpPr>
          <p:grpSpPr>
            <a:xfrm>
              <a:off x="264714" y="1292423"/>
              <a:ext cx="2543315" cy="551899"/>
              <a:chOff x="0" y="0"/>
              <a:chExt cx="768398" cy="166742"/>
            </a:xfrm>
          </p:grpSpPr>
          <p:sp>
            <p:nvSpPr>
              <p:cNvPr id="90" name="Freeform 90">
                <a:extLst>
                  <a:ext uri="{FF2B5EF4-FFF2-40B4-BE49-F238E27FC236}">
                    <a16:creationId xmlns:a16="http://schemas.microsoft.com/office/drawing/2014/main" id="{C0A593F8-2D2B-AC7D-16BA-076C2B370F23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4C4C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91" name="TextBox 91">
                <a:extLst>
                  <a:ext uri="{FF2B5EF4-FFF2-40B4-BE49-F238E27FC236}">
                    <a16:creationId xmlns:a16="http://schemas.microsoft.com/office/drawing/2014/main" id="{854DEC38-F9BE-44D9-B6FD-2D71A0B299D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Display</a:t>
                </a:r>
              </a:p>
            </p:txBody>
          </p:sp>
        </p:grpSp>
        <p:grpSp>
          <p:nvGrpSpPr>
            <p:cNvPr id="92" name="Group 92">
              <a:extLst>
                <a:ext uri="{FF2B5EF4-FFF2-40B4-BE49-F238E27FC236}">
                  <a16:creationId xmlns:a16="http://schemas.microsoft.com/office/drawing/2014/main" id="{E8B3B970-52AE-1569-B702-40F1003E582B}"/>
                </a:ext>
              </a:extLst>
            </p:cNvPr>
            <p:cNvGrpSpPr/>
            <p:nvPr/>
          </p:nvGrpSpPr>
          <p:grpSpPr>
            <a:xfrm>
              <a:off x="2918902" y="1292423"/>
              <a:ext cx="1908819" cy="551899"/>
              <a:chOff x="0" y="0"/>
              <a:chExt cx="576702" cy="166742"/>
            </a:xfrm>
          </p:grpSpPr>
          <p:sp>
            <p:nvSpPr>
              <p:cNvPr id="93" name="Freeform 93">
                <a:extLst>
                  <a:ext uri="{FF2B5EF4-FFF2-40B4-BE49-F238E27FC236}">
                    <a16:creationId xmlns:a16="http://schemas.microsoft.com/office/drawing/2014/main" id="{4963F91B-E89C-3858-828C-0B1B500272C5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94" name="TextBox 94">
                <a:extLst>
                  <a:ext uri="{FF2B5EF4-FFF2-40B4-BE49-F238E27FC236}">
                    <a16:creationId xmlns:a16="http://schemas.microsoft.com/office/drawing/2014/main" id="{2A8C1F18-6B63-4659-723E-FE9F2F1EA45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7" IPS (1024x600) </a:t>
                </a:r>
              </a:p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Capacitive Touch</a:t>
                </a:r>
              </a:p>
            </p:txBody>
          </p:sp>
        </p:grpSp>
        <p:grpSp>
          <p:nvGrpSpPr>
            <p:cNvPr id="95" name="Group 95">
              <a:extLst>
                <a:ext uri="{FF2B5EF4-FFF2-40B4-BE49-F238E27FC236}">
                  <a16:creationId xmlns:a16="http://schemas.microsoft.com/office/drawing/2014/main" id="{87B59EE3-F9B9-916C-AFA0-3CB51170E19B}"/>
                </a:ext>
              </a:extLst>
            </p:cNvPr>
            <p:cNvGrpSpPr/>
            <p:nvPr/>
          </p:nvGrpSpPr>
          <p:grpSpPr>
            <a:xfrm>
              <a:off x="264714" y="1899343"/>
              <a:ext cx="2543315" cy="551899"/>
              <a:chOff x="0" y="0"/>
              <a:chExt cx="768398" cy="166742"/>
            </a:xfrm>
          </p:grpSpPr>
          <p:sp>
            <p:nvSpPr>
              <p:cNvPr id="96" name="Freeform 96">
                <a:extLst>
                  <a:ext uri="{FF2B5EF4-FFF2-40B4-BE49-F238E27FC236}">
                    <a16:creationId xmlns:a16="http://schemas.microsoft.com/office/drawing/2014/main" id="{0B91DCB7-5E0A-134D-9CD4-ABA86EC1D846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A0A7B0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97" name="TextBox 97">
                <a:extLst>
                  <a:ext uri="{FF2B5EF4-FFF2-40B4-BE49-F238E27FC236}">
                    <a16:creationId xmlns:a16="http://schemas.microsoft.com/office/drawing/2014/main" id="{1980D9C2-31FE-02E5-99F1-12E106AB6C9B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Battery Life</a:t>
                </a:r>
              </a:p>
            </p:txBody>
          </p:sp>
        </p:grpSp>
        <p:grpSp>
          <p:nvGrpSpPr>
            <p:cNvPr id="98" name="Group 98">
              <a:extLst>
                <a:ext uri="{FF2B5EF4-FFF2-40B4-BE49-F238E27FC236}">
                  <a16:creationId xmlns:a16="http://schemas.microsoft.com/office/drawing/2014/main" id="{980A02EA-F705-76E8-FD16-3C5D81A3AFD7}"/>
                </a:ext>
              </a:extLst>
            </p:cNvPr>
            <p:cNvGrpSpPr/>
            <p:nvPr/>
          </p:nvGrpSpPr>
          <p:grpSpPr>
            <a:xfrm>
              <a:off x="2918902" y="1899343"/>
              <a:ext cx="1908819" cy="551899"/>
              <a:chOff x="0" y="0"/>
              <a:chExt cx="576702" cy="166742"/>
            </a:xfrm>
          </p:grpSpPr>
          <p:sp>
            <p:nvSpPr>
              <p:cNvPr id="99" name="Freeform 99">
                <a:extLst>
                  <a:ext uri="{FF2B5EF4-FFF2-40B4-BE49-F238E27FC236}">
                    <a16:creationId xmlns:a16="http://schemas.microsoft.com/office/drawing/2014/main" id="{912339B2-1B6B-CD48-5E2F-DBE6E0DFA345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0" name="TextBox 100">
                <a:extLst>
                  <a:ext uri="{FF2B5EF4-FFF2-40B4-BE49-F238E27FC236}">
                    <a16:creationId xmlns:a16="http://schemas.microsoft.com/office/drawing/2014/main" id="{34B76523-DBC1-D49A-934D-EB0048B0CB7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5 hrs</a:t>
                </a:r>
              </a:p>
            </p:txBody>
          </p:sp>
        </p:grpSp>
        <p:grpSp>
          <p:nvGrpSpPr>
            <p:cNvPr id="101" name="Group 101">
              <a:extLst>
                <a:ext uri="{FF2B5EF4-FFF2-40B4-BE49-F238E27FC236}">
                  <a16:creationId xmlns:a16="http://schemas.microsoft.com/office/drawing/2014/main" id="{28A33C1F-61ED-A588-2C0D-1ADB1C83D9C6}"/>
                </a:ext>
              </a:extLst>
            </p:cNvPr>
            <p:cNvGrpSpPr/>
            <p:nvPr/>
          </p:nvGrpSpPr>
          <p:grpSpPr>
            <a:xfrm>
              <a:off x="264714" y="2506264"/>
              <a:ext cx="2543315" cy="551899"/>
              <a:chOff x="0" y="0"/>
              <a:chExt cx="768398" cy="166742"/>
            </a:xfrm>
          </p:grpSpPr>
          <p:sp>
            <p:nvSpPr>
              <p:cNvPr id="102" name="Freeform 102">
                <a:extLst>
                  <a:ext uri="{FF2B5EF4-FFF2-40B4-BE49-F238E27FC236}">
                    <a16:creationId xmlns:a16="http://schemas.microsoft.com/office/drawing/2014/main" id="{54819CD2-1576-1671-B1BC-C42142A6C57D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4C4C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3" name="TextBox 103">
                <a:extLst>
                  <a:ext uri="{FF2B5EF4-FFF2-40B4-BE49-F238E27FC236}">
                    <a16:creationId xmlns:a16="http://schemas.microsoft.com/office/drawing/2014/main" id="{03D5E9AB-924B-F730-AD36-667B4602C58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Weight</a:t>
                </a:r>
              </a:p>
            </p:txBody>
          </p:sp>
        </p:grpSp>
        <p:grpSp>
          <p:nvGrpSpPr>
            <p:cNvPr id="104" name="Group 104">
              <a:extLst>
                <a:ext uri="{FF2B5EF4-FFF2-40B4-BE49-F238E27FC236}">
                  <a16:creationId xmlns:a16="http://schemas.microsoft.com/office/drawing/2014/main" id="{CEF2803D-7CD3-6568-4C04-4A1F90050A1F}"/>
                </a:ext>
              </a:extLst>
            </p:cNvPr>
            <p:cNvGrpSpPr/>
            <p:nvPr/>
          </p:nvGrpSpPr>
          <p:grpSpPr>
            <a:xfrm>
              <a:off x="2918902" y="2506264"/>
              <a:ext cx="1908819" cy="551899"/>
              <a:chOff x="0" y="0"/>
              <a:chExt cx="576702" cy="166742"/>
            </a:xfrm>
          </p:grpSpPr>
          <p:sp>
            <p:nvSpPr>
              <p:cNvPr id="105" name="Freeform 105">
                <a:extLst>
                  <a:ext uri="{FF2B5EF4-FFF2-40B4-BE49-F238E27FC236}">
                    <a16:creationId xmlns:a16="http://schemas.microsoft.com/office/drawing/2014/main" id="{792CC069-6E36-71E2-F406-F76093FD9B2D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6" name="TextBox 106">
                <a:extLst>
                  <a:ext uri="{FF2B5EF4-FFF2-40B4-BE49-F238E27FC236}">
                    <a16:creationId xmlns:a16="http://schemas.microsoft.com/office/drawing/2014/main" id="{98111CB6-BFAE-CC5F-46E0-CA28C40ACD0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35 kg</a:t>
                </a:r>
              </a:p>
            </p:txBody>
          </p:sp>
        </p:grpSp>
        <p:grpSp>
          <p:nvGrpSpPr>
            <p:cNvPr id="107" name="Group 107">
              <a:extLst>
                <a:ext uri="{FF2B5EF4-FFF2-40B4-BE49-F238E27FC236}">
                  <a16:creationId xmlns:a16="http://schemas.microsoft.com/office/drawing/2014/main" id="{BC05D229-C940-B06B-A375-1DC7A059A96E}"/>
                </a:ext>
              </a:extLst>
            </p:cNvPr>
            <p:cNvGrpSpPr/>
            <p:nvPr/>
          </p:nvGrpSpPr>
          <p:grpSpPr>
            <a:xfrm>
              <a:off x="264714" y="3113184"/>
              <a:ext cx="2543315" cy="551899"/>
              <a:chOff x="0" y="0"/>
              <a:chExt cx="768398" cy="166742"/>
            </a:xfrm>
          </p:grpSpPr>
          <p:sp>
            <p:nvSpPr>
              <p:cNvPr id="108" name="Freeform 108">
                <a:extLst>
                  <a:ext uri="{FF2B5EF4-FFF2-40B4-BE49-F238E27FC236}">
                    <a16:creationId xmlns:a16="http://schemas.microsoft.com/office/drawing/2014/main" id="{15A9AEBC-8BA3-70D8-C58B-7131331F4F1F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A0A7B0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9" name="TextBox 109">
                <a:extLst>
                  <a:ext uri="{FF2B5EF4-FFF2-40B4-BE49-F238E27FC236}">
                    <a16:creationId xmlns:a16="http://schemas.microsoft.com/office/drawing/2014/main" id="{52BC0507-4895-F1C1-1421-2A34195F7CB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Size</a:t>
                </a:r>
              </a:p>
            </p:txBody>
          </p:sp>
        </p:grpSp>
        <p:grpSp>
          <p:nvGrpSpPr>
            <p:cNvPr id="110" name="Group 110">
              <a:extLst>
                <a:ext uri="{FF2B5EF4-FFF2-40B4-BE49-F238E27FC236}">
                  <a16:creationId xmlns:a16="http://schemas.microsoft.com/office/drawing/2014/main" id="{4C602517-D3D3-07E9-915F-8C17BBC543A1}"/>
                </a:ext>
              </a:extLst>
            </p:cNvPr>
            <p:cNvGrpSpPr/>
            <p:nvPr/>
          </p:nvGrpSpPr>
          <p:grpSpPr>
            <a:xfrm>
              <a:off x="2918902" y="3113184"/>
              <a:ext cx="1908819" cy="551899"/>
              <a:chOff x="0" y="0"/>
              <a:chExt cx="576702" cy="166742"/>
            </a:xfrm>
          </p:grpSpPr>
          <p:sp>
            <p:nvSpPr>
              <p:cNvPr id="111" name="Freeform 111">
                <a:extLst>
                  <a:ext uri="{FF2B5EF4-FFF2-40B4-BE49-F238E27FC236}">
                    <a16:creationId xmlns:a16="http://schemas.microsoft.com/office/drawing/2014/main" id="{04218DDD-4C53-AE7F-32B7-6150F52F2F7E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2" name="TextBox 112">
                <a:extLst>
                  <a:ext uri="{FF2B5EF4-FFF2-40B4-BE49-F238E27FC236}">
                    <a16:creationId xmlns:a16="http://schemas.microsoft.com/office/drawing/2014/main" id="{67C386E2-89F5-EF8D-F8EF-C213A7B606E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0.4m (L) x 0.4m (W) </a:t>
                </a:r>
              </a:p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x 1.75m (H)</a:t>
                </a:r>
              </a:p>
            </p:txBody>
          </p:sp>
        </p:grpSp>
        <p:grpSp>
          <p:nvGrpSpPr>
            <p:cNvPr id="113" name="Group 113">
              <a:extLst>
                <a:ext uri="{FF2B5EF4-FFF2-40B4-BE49-F238E27FC236}">
                  <a16:creationId xmlns:a16="http://schemas.microsoft.com/office/drawing/2014/main" id="{33182911-289C-5E15-4C3A-2BCABB56EF95}"/>
                </a:ext>
              </a:extLst>
            </p:cNvPr>
            <p:cNvGrpSpPr/>
            <p:nvPr/>
          </p:nvGrpSpPr>
          <p:grpSpPr>
            <a:xfrm>
              <a:off x="264714" y="3720104"/>
              <a:ext cx="2543315" cy="551899"/>
              <a:chOff x="0" y="0"/>
              <a:chExt cx="768398" cy="166742"/>
            </a:xfrm>
          </p:grpSpPr>
          <p:sp>
            <p:nvSpPr>
              <p:cNvPr id="114" name="Freeform 114">
                <a:extLst>
                  <a:ext uri="{FF2B5EF4-FFF2-40B4-BE49-F238E27FC236}">
                    <a16:creationId xmlns:a16="http://schemas.microsoft.com/office/drawing/2014/main" id="{7AA2F322-1492-BC61-91A1-1D886E0169BB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4C4C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5" name="TextBox 115">
                <a:extLst>
                  <a:ext uri="{FF2B5EF4-FFF2-40B4-BE49-F238E27FC236}">
                    <a16:creationId xmlns:a16="http://schemas.microsoft.com/office/drawing/2014/main" id="{B61A69E7-7EC1-3AB6-581C-F7B34577EBE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Training Area Size</a:t>
                </a:r>
              </a:p>
            </p:txBody>
          </p:sp>
        </p:grpSp>
        <p:grpSp>
          <p:nvGrpSpPr>
            <p:cNvPr id="116" name="Group 116">
              <a:extLst>
                <a:ext uri="{FF2B5EF4-FFF2-40B4-BE49-F238E27FC236}">
                  <a16:creationId xmlns:a16="http://schemas.microsoft.com/office/drawing/2014/main" id="{F09A7E14-FD80-77D1-1F58-C67123051BB7}"/>
                </a:ext>
              </a:extLst>
            </p:cNvPr>
            <p:cNvGrpSpPr/>
            <p:nvPr/>
          </p:nvGrpSpPr>
          <p:grpSpPr>
            <a:xfrm>
              <a:off x="2918902" y="3720104"/>
              <a:ext cx="1908819" cy="551899"/>
              <a:chOff x="0" y="0"/>
              <a:chExt cx="576702" cy="166742"/>
            </a:xfrm>
          </p:grpSpPr>
          <p:sp>
            <p:nvSpPr>
              <p:cNvPr id="117" name="Freeform 117">
                <a:extLst>
                  <a:ext uri="{FF2B5EF4-FFF2-40B4-BE49-F238E27FC236}">
                    <a16:creationId xmlns:a16="http://schemas.microsoft.com/office/drawing/2014/main" id="{80EAFBAA-25EB-BFC4-FEB6-90717BB7AA62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8" name="TextBox 118">
                <a:extLst>
                  <a:ext uri="{FF2B5EF4-FFF2-40B4-BE49-F238E27FC236}">
                    <a16:creationId xmlns:a16="http://schemas.microsoft.com/office/drawing/2014/main" id="{B7D6FE7F-97B1-8A0D-F517-7736A1C9514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4 sqm</a:t>
                </a:r>
              </a:p>
            </p:txBody>
          </p:sp>
        </p:grpSp>
        <p:grpSp>
          <p:nvGrpSpPr>
            <p:cNvPr id="119" name="Group 119">
              <a:extLst>
                <a:ext uri="{FF2B5EF4-FFF2-40B4-BE49-F238E27FC236}">
                  <a16:creationId xmlns:a16="http://schemas.microsoft.com/office/drawing/2014/main" id="{F3012B99-9D01-D11F-8D70-7E00CD11A026}"/>
                </a:ext>
              </a:extLst>
            </p:cNvPr>
            <p:cNvGrpSpPr/>
            <p:nvPr/>
          </p:nvGrpSpPr>
          <p:grpSpPr>
            <a:xfrm>
              <a:off x="264714" y="4327024"/>
              <a:ext cx="2543315" cy="551899"/>
              <a:chOff x="0" y="0"/>
              <a:chExt cx="768398" cy="166742"/>
            </a:xfrm>
          </p:grpSpPr>
          <p:sp>
            <p:nvSpPr>
              <p:cNvPr id="120" name="Freeform 120">
                <a:extLst>
                  <a:ext uri="{FF2B5EF4-FFF2-40B4-BE49-F238E27FC236}">
                    <a16:creationId xmlns:a16="http://schemas.microsoft.com/office/drawing/2014/main" id="{A3D22309-FFE3-F8E6-1D72-0A8D79EE9ED6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A0A7B0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21" name="TextBox 121">
                <a:extLst>
                  <a:ext uri="{FF2B5EF4-FFF2-40B4-BE49-F238E27FC236}">
                    <a16:creationId xmlns:a16="http://schemas.microsoft.com/office/drawing/2014/main" id="{0C1EEFA1-1F85-88C7-5A83-13D358A504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Camera Tracking Speed</a:t>
                </a:r>
              </a:p>
            </p:txBody>
          </p:sp>
        </p:grpSp>
        <p:grpSp>
          <p:nvGrpSpPr>
            <p:cNvPr id="122" name="Group 122">
              <a:extLst>
                <a:ext uri="{FF2B5EF4-FFF2-40B4-BE49-F238E27FC236}">
                  <a16:creationId xmlns:a16="http://schemas.microsoft.com/office/drawing/2014/main" id="{32E8E802-ECC1-A45F-33E4-7B4F7BEE4419}"/>
                </a:ext>
              </a:extLst>
            </p:cNvPr>
            <p:cNvGrpSpPr/>
            <p:nvPr/>
          </p:nvGrpSpPr>
          <p:grpSpPr>
            <a:xfrm>
              <a:off x="2918902" y="4327024"/>
              <a:ext cx="1908819" cy="551899"/>
              <a:chOff x="0" y="0"/>
              <a:chExt cx="576702" cy="166742"/>
            </a:xfrm>
          </p:grpSpPr>
          <p:sp>
            <p:nvSpPr>
              <p:cNvPr id="123" name="Freeform 123">
                <a:extLst>
                  <a:ext uri="{FF2B5EF4-FFF2-40B4-BE49-F238E27FC236}">
                    <a16:creationId xmlns:a16="http://schemas.microsoft.com/office/drawing/2014/main" id="{A8E59EF1-6103-D73A-6758-019D936F3DBF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24" name="TextBox 124">
                <a:extLst>
                  <a:ext uri="{FF2B5EF4-FFF2-40B4-BE49-F238E27FC236}">
                    <a16:creationId xmlns:a16="http://schemas.microsoft.com/office/drawing/2014/main" id="{2E727C1B-1AB3-1FAD-223A-3219B76EA72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 dirty="0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60 fps (16.7 </a:t>
                </a:r>
                <a:r>
                  <a:rPr lang="en-US" sz="1433" dirty="0" err="1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ms</a:t>
                </a:r>
                <a:r>
                  <a:rPr lang="en-US" sz="1433" dirty="0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)</a:t>
                </a:r>
              </a:p>
            </p:txBody>
          </p:sp>
        </p:grpSp>
        <p:grpSp>
          <p:nvGrpSpPr>
            <p:cNvPr id="125" name="Group 125">
              <a:extLst>
                <a:ext uri="{FF2B5EF4-FFF2-40B4-BE49-F238E27FC236}">
                  <a16:creationId xmlns:a16="http://schemas.microsoft.com/office/drawing/2014/main" id="{063F08CB-5473-BA17-F82D-7D3B1EADD16C}"/>
                </a:ext>
              </a:extLst>
            </p:cNvPr>
            <p:cNvGrpSpPr/>
            <p:nvPr/>
          </p:nvGrpSpPr>
          <p:grpSpPr>
            <a:xfrm>
              <a:off x="264714" y="4933945"/>
              <a:ext cx="2543315" cy="551899"/>
              <a:chOff x="0" y="0"/>
              <a:chExt cx="768398" cy="166742"/>
            </a:xfrm>
          </p:grpSpPr>
          <p:sp>
            <p:nvSpPr>
              <p:cNvPr id="126" name="Freeform 126">
                <a:extLst>
                  <a:ext uri="{FF2B5EF4-FFF2-40B4-BE49-F238E27FC236}">
                    <a16:creationId xmlns:a16="http://schemas.microsoft.com/office/drawing/2014/main" id="{4CE77F28-5451-5F00-8372-5B0094C51EEC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4C4C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27" name="TextBox 127">
                <a:extLst>
                  <a:ext uri="{FF2B5EF4-FFF2-40B4-BE49-F238E27FC236}">
                    <a16:creationId xmlns:a16="http://schemas.microsoft.com/office/drawing/2014/main" id="{5C4905F5-8311-93BF-9A4D-224D1C107D4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Holding Torque of Arms</a:t>
                </a:r>
              </a:p>
            </p:txBody>
          </p:sp>
        </p:grpSp>
        <p:grpSp>
          <p:nvGrpSpPr>
            <p:cNvPr id="128" name="Group 128">
              <a:extLst>
                <a:ext uri="{FF2B5EF4-FFF2-40B4-BE49-F238E27FC236}">
                  <a16:creationId xmlns:a16="http://schemas.microsoft.com/office/drawing/2014/main" id="{ECE0FDBB-0119-DC34-734A-EAA26BB42BAF}"/>
                </a:ext>
              </a:extLst>
            </p:cNvPr>
            <p:cNvGrpSpPr/>
            <p:nvPr/>
          </p:nvGrpSpPr>
          <p:grpSpPr>
            <a:xfrm>
              <a:off x="2918902" y="4933945"/>
              <a:ext cx="1908819" cy="551899"/>
              <a:chOff x="0" y="0"/>
              <a:chExt cx="576702" cy="166742"/>
            </a:xfrm>
          </p:grpSpPr>
          <p:sp>
            <p:nvSpPr>
              <p:cNvPr id="129" name="Freeform 129">
                <a:extLst>
                  <a:ext uri="{FF2B5EF4-FFF2-40B4-BE49-F238E27FC236}">
                    <a16:creationId xmlns:a16="http://schemas.microsoft.com/office/drawing/2014/main" id="{9FA55FB0-F974-0166-A9E0-DDB799C60393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0" name="TextBox 130">
                <a:extLst>
                  <a:ext uri="{FF2B5EF4-FFF2-40B4-BE49-F238E27FC236}">
                    <a16:creationId xmlns:a16="http://schemas.microsoft.com/office/drawing/2014/main" id="{A99A55FF-2000-DEFF-2756-4E2BD8060B0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3.4 Nm</a:t>
                </a:r>
              </a:p>
            </p:txBody>
          </p:sp>
        </p:grpSp>
        <p:grpSp>
          <p:nvGrpSpPr>
            <p:cNvPr id="131" name="Group 131">
              <a:extLst>
                <a:ext uri="{FF2B5EF4-FFF2-40B4-BE49-F238E27FC236}">
                  <a16:creationId xmlns:a16="http://schemas.microsoft.com/office/drawing/2014/main" id="{399D6E5B-2835-0487-8640-9BD154AA86E5}"/>
                </a:ext>
              </a:extLst>
            </p:cNvPr>
            <p:cNvGrpSpPr/>
            <p:nvPr/>
          </p:nvGrpSpPr>
          <p:grpSpPr>
            <a:xfrm>
              <a:off x="264714" y="5540865"/>
              <a:ext cx="2543315" cy="551899"/>
              <a:chOff x="0" y="0"/>
              <a:chExt cx="768398" cy="166742"/>
            </a:xfrm>
          </p:grpSpPr>
          <p:sp>
            <p:nvSpPr>
              <p:cNvPr id="132" name="Freeform 132">
                <a:extLst>
                  <a:ext uri="{FF2B5EF4-FFF2-40B4-BE49-F238E27FC236}">
                    <a16:creationId xmlns:a16="http://schemas.microsoft.com/office/drawing/2014/main" id="{E5907218-201B-4680-298A-CEFECF040B54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A0A7B0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3" name="TextBox 133">
                <a:extLst>
                  <a:ext uri="{FF2B5EF4-FFF2-40B4-BE49-F238E27FC236}">
                    <a16:creationId xmlns:a16="http://schemas.microsoft.com/office/drawing/2014/main" id="{0FEC70E9-1FEC-5DC5-D0D3-8D71611148DB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Speed of Arms</a:t>
                </a:r>
              </a:p>
            </p:txBody>
          </p:sp>
        </p:grpSp>
        <p:grpSp>
          <p:nvGrpSpPr>
            <p:cNvPr id="134" name="Group 134">
              <a:extLst>
                <a:ext uri="{FF2B5EF4-FFF2-40B4-BE49-F238E27FC236}">
                  <a16:creationId xmlns:a16="http://schemas.microsoft.com/office/drawing/2014/main" id="{9ED78506-16D2-9E73-8E35-634653539828}"/>
                </a:ext>
              </a:extLst>
            </p:cNvPr>
            <p:cNvGrpSpPr/>
            <p:nvPr/>
          </p:nvGrpSpPr>
          <p:grpSpPr>
            <a:xfrm>
              <a:off x="2918902" y="5540865"/>
              <a:ext cx="1908819" cy="551899"/>
              <a:chOff x="0" y="0"/>
              <a:chExt cx="576702" cy="166742"/>
            </a:xfrm>
          </p:grpSpPr>
          <p:sp>
            <p:nvSpPr>
              <p:cNvPr id="135" name="Freeform 135">
                <a:extLst>
                  <a:ext uri="{FF2B5EF4-FFF2-40B4-BE49-F238E27FC236}">
                    <a16:creationId xmlns:a16="http://schemas.microsoft.com/office/drawing/2014/main" id="{62122AE8-7367-641F-CDCC-7EFEFE676197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6" name="TextBox 136">
                <a:extLst>
                  <a:ext uri="{FF2B5EF4-FFF2-40B4-BE49-F238E27FC236}">
                    <a16:creationId xmlns:a16="http://schemas.microsoft.com/office/drawing/2014/main" id="{4BD3E575-239C-9511-0506-BFA1CEC43C8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0.11 sec/60° (no load)</a:t>
                </a:r>
              </a:p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0.13 sec/60° (full load)</a:t>
                </a:r>
              </a:p>
            </p:txBody>
          </p:sp>
        </p:grpSp>
        <p:grpSp>
          <p:nvGrpSpPr>
            <p:cNvPr id="137" name="Group 137">
              <a:extLst>
                <a:ext uri="{FF2B5EF4-FFF2-40B4-BE49-F238E27FC236}">
                  <a16:creationId xmlns:a16="http://schemas.microsoft.com/office/drawing/2014/main" id="{197F8FF0-4CAE-1D44-D15E-A8382805D87D}"/>
                </a:ext>
              </a:extLst>
            </p:cNvPr>
            <p:cNvGrpSpPr/>
            <p:nvPr/>
          </p:nvGrpSpPr>
          <p:grpSpPr>
            <a:xfrm>
              <a:off x="264714" y="6147785"/>
              <a:ext cx="2543315" cy="551899"/>
              <a:chOff x="0" y="0"/>
              <a:chExt cx="768398" cy="166742"/>
            </a:xfrm>
          </p:grpSpPr>
          <p:sp>
            <p:nvSpPr>
              <p:cNvPr id="138" name="Freeform 138">
                <a:extLst>
                  <a:ext uri="{FF2B5EF4-FFF2-40B4-BE49-F238E27FC236}">
                    <a16:creationId xmlns:a16="http://schemas.microsoft.com/office/drawing/2014/main" id="{D2D2022C-21F5-1E5C-992C-68CC5A77B6B1}"/>
                  </a:ext>
                </a:extLst>
              </p:cNvPr>
              <p:cNvSpPr/>
              <p:nvPr/>
            </p:nvSpPr>
            <p:spPr>
              <a:xfrm>
                <a:off x="0" y="0"/>
                <a:ext cx="768398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768398" h="166742">
                    <a:moveTo>
                      <a:pt x="0" y="0"/>
                    </a:moveTo>
                    <a:lnTo>
                      <a:pt x="768398" y="0"/>
                    </a:lnTo>
                    <a:lnTo>
                      <a:pt x="768398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4C4C4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9" name="TextBox 139">
                <a:extLst>
                  <a:ext uri="{FF2B5EF4-FFF2-40B4-BE49-F238E27FC236}">
                    <a16:creationId xmlns:a16="http://schemas.microsoft.com/office/drawing/2014/main" id="{726011B8-9AFE-4EFE-D2D6-126AD4DF5AE9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768398" cy="176267"/>
              </a:xfrm>
              <a:prstGeom prst="rect">
                <a:avLst/>
              </a:prstGeom>
            </p:spPr>
            <p:txBody>
              <a:bodyPr lIns="183055" tIns="183055" rIns="183055" bIns="183055" rtlCol="0" anchor="ctr"/>
              <a:lstStyle/>
              <a:p>
                <a:pPr algn="ctr" defTabSz="1513332">
                  <a:lnSpc>
                    <a:spcPts val="2335"/>
                  </a:lnSpc>
                </a:pPr>
                <a:r>
                  <a:rPr lang="en-US" sz="1945" b="1">
                    <a:solidFill>
                      <a:srgbClr val="181648"/>
                    </a:solidFill>
                    <a:latin typeface="Red Hat Display Bold"/>
                    <a:ea typeface="Red Hat Display Bold"/>
                    <a:cs typeface="Red Hat Display Bold"/>
                    <a:sym typeface="Red Hat Display Bold"/>
                  </a:rPr>
                  <a:t>Speed of Wheels</a:t>
                </a:r>
              </a:p>
            </p:txBody>
          </p:sp>
        </p:grpSp>
        <p:grpSp>
          <p:nvGrpSpPr>
            <p:cNvPr id="140" name="Group 140">
              <a:extLst>
                <a:ext uri="{FF2B5EF4-FFF2-40B4-BE49-F238E27FC236}">
                  <a16:creationId xmlns:a16="http://schemas.microsoft.com/office/drawing/2014/main" id="{54D4C3FC-E6F1-E202-C9F1-8B4C26BCDDAD}"/>
                </a:ext>
              </a:extLst>
            </p:cNvPr>
            <p:cNvGrpSpPr/>
            <p:nvPr/>
          </p:nvGrpSpPr>
          <p:grpSpPr>
            <a:xfrm>
              <a:off x="2918902" y="6147785"/>
              <a:ext cx="1908819" cy="551899"/>
              <a:chOff x="0" y="0"/>
              <a:chExt cx="576702" cy="166742"/>
            </a:xfrm>
          </p:grpSpPr>
          <p:sp>
            <p:nvSpPr>
              <p:cNvPr id="141" name="Freeform 141">
                <a:extLst>
                  <a:ext uri="{FF2B5EF4-FFF2-40B4-BE49-F238E27FC236}">
                    <a16:creationId xmlns:a16="http://schemas.microsoft.com/office/drawing/2014/main" id="{BCD01125-022F-4B67-254D-2F0B425209F3}"/>
                  </a:ext>
                </a:extLst>
              </p:cNvPr>
              <p:cNvSpPr/>
              <p:nvPr/>
            </p:nvSpPr>
            <p:spPr>
              <a:xfrm>
                <a:off x="0" y="0"/>
                <a:ext cx="576702" cy="166742"/>
              </a:xfrm>
              <a:custGeom>
                <a:avLst/>
                <a:gdLst/>
                <a:ahLst/>
                <a:cxnLst/>
                <a:rect l="l" t="t" r="r" b="b"/>
                <a:pathLst>
                  <a:path w="576702" h="166742">
                    <a:moveTo>
                      <a:pt x="0" y="0"/>
                    </a:moveTo>
                    <a:lnTo>
                      <a:pt x="576702" y="0"/>
                    </a:lnTo>
                    <a:lnTo>
                      <a:pt x="576702" y="166742"/>
                    </a:lnTo>
                    <a:lnTo>
                      <a:pt x="0" y="166742"/>
                    </a:lnTo>
                    <a:close/>
                  </a:path>
                </a:pathLst>
              </a:custGeom>
              <a:solidFill>
                <a:srgbClr val="CFD4DA"/>
              </a:solidFill>
            </p:spPr>
            <p:txBody>
              <a:bodyPr/>
              <a:lstStyle/>
              <a:p>
                <a:pPr defTabSz="1513332"/>
                <a:endParaRPr lang="en-SG" sz="2979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42" name="TextBox 142">
                <a:extLst>
                  <a:ext uri="{FF2B5EF4-FFF2-40B4-BE49-F238E27FC236}">
                    <a16:creationId xmlns:a16="http://schemas.microsoft.com/office/drawing/2014/main" id="{8C3E770A-EF5C-6A0A-8F19-C034EC2CB27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6702" cy="195317"/>
              </a:xfrm>
              <a:prstGeom prst="rect">
                <a:avLst/>
              </a:prstGeom>
            </p:spPr>
            <p:txBody>
              <a:bodyPr lIns="167208" tIns="167208" rIns="167208" bIns="167208" rtlCol="0" anchor="ctr"/>
              <a:lstStyle/>
              <a:p>
                <a:pPr algn="ctr" defTabSz="1513332">
                  <a:lnSpc>
                    <a:spcPts val="2008"/>
                  </a:lnSpc>
                </a:pPr>
                <a:r>
                  <a:rPr lang="en-US" sz="1433">
                    <a:solidFill>
                      <a:srgbClr val="181648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rPr>
                  <a:t>1.46 m/s</a:t>
                </a:r>
              </a:p>
            </p:txBody>
          </p:sp>
        </p:grpSp>
      </p:grpSp>
      <p:sp>
        <p:nvSpPr>
          <p:cNvPr id="143" name="TextBox 143">
            <a:extLst>
              <a:ext uri="{FF2B5EF4-FFF2-40B4-BE49-F238E27FC236}">
                <a16:creationId xmlns:a16="http://schemas.microsoft.com/office/drawing/2014/main" id="{0011ACBD-17E8-C8A9-34BF-6A488C8F56B0}"/>
              </a:ext>
            </a:extLst>
          </p:cNvPr>
          <p:cNvSpPr txBox="1"/>
          <p:nvPr/>
        </p:nvSpPr>
        <p:spPr>
          <a:xfrm>
            <a:off x="9780399" y="15711936"/>
            <a:ext cx="6680948" cy="155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442" lvl="1" indent="-331720" defTabSz="1513332">
              <a:lnSpc>
                <a:spcPts val="4301"/>
              </a:lnSpc>
              <a:buFont typeface="Arial"/>
              <a:buChar char="•"/>
            </a:pPr>
            <a:r>
              <a:rPr lang="en-US" sz="3072" b="1" i="1">
                <a:solidFill>
                  <a:srgbClr val="FFFFFF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SPAR MODE</a:t>
            </a:r>
          </a:p>
          <a:p>
            <a:pPr defTabSz="1513332">
              <a:lnSpc>
                <a:spcPts val="1433"/>
              </a:lnSpc>
            </a:pPr>
            <a:endParaRPr lang="en-US" sz="3072" b="1" i="1">
              <a:solidFill>
                <a:srgbClr val="FFFFFF"/>
              </a:solidFill>
              <a:latin typeface="Red Hat Display Bold Italics"/>
              <a:ea typeface="Red Hat Display Bold Italics"/>
              <a:cs typeface="Red Hat Display Bold Italics"/>
              <a:sym typeface="Red Hat Display Bold Italics"/>
            </a:endParaRPr>
          </a:p>
          <a:p>
            <a:pPr defTabSz="1513332">
              <a:lnSpc>
                <a:spcPts val="3154"/>
              </a:lnSpc>
            </a:pPr>
            <a:r>
              <a:rPr lang="en-US" sz="286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Safe &amp; Intelligent sparring partner to test your reflexes + sparring skills</a:t>
            </a:r>
          </a:p>
        </p:txBody>
      </p:sp>
    </p:spTree>
    <p:extLst>
      <p:ext uri="{BB962C8B-B14F-4D97-AF65-F5344CB8AC3E}">
        <p14:creationId xmlns:p14="http://schemas.microsoft.com/office/powerpoint/2010/main" val="148591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5114F-E70B-4E37-A559-AF41486F9549}"/>
              </a:ext>
            </a:extLst>
          </p:cNvPr>
          <p:cNvSpPr/>
          <p:nvPr/>
        </p:nvSpPr>
        <p:spPr>
          <a:xfrm>
            <a:off x="359952" y="360000"/>
            <a:ext cx="29548845" cy="2408858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0"/>
          </a:p>
        </p:txBody>
      </p:sp>
      <p:pic>
        <p:nvPicPr>
          <p:cNvPr id="5" name="Google Shape;192;p43">
            <a:extLst>
              <a:ext uri="{FF2B5EF4-FFF2-40B4-BE49-F238E27FC236}">
                <a16:creationId xmlns:a16="http://schemas.microsoft.com/office/drawing/2014/main" id="{F6E1938C-9923-4356-A8E5-5FB6425CD488}"/>
              </a:ext>
            </a:extLst>
          </p:cNvPr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601" y="961620"/>
            <a:ext cx="5251034" cy="113325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4A339B-1A22-4AA5-B724-F6CF402FE616}"/>
              </a:ext>
            </a:extLst>
          </p:cNvPr>
          <p:cNvSpPr txBox="1"/>
          <p:nvPr/>
        </p:nvSpPr>
        <p:spPr>
          <a:xfrm>
            <a:off x="805780" y="537750"/>
            <a:ext cx="22575902" cy="198099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SG" sz="5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Insert your project title here.</a:t>
            </a:r>
          </a:p>
          <a:p>
            <a:pPr>
              <a:lnSpc>
                <a:spcPct val="120000"/>
              </a:lnSpc>
            </a:pPr>
            <a:r>
              <a:rPr lang="en-SG" sz="5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Limit to at most two lines.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BF5036-13CD-4174-BF4D-56EE4EE776CC}"/>
              </a:ext>
            </a:extLst>
          </p:cNvPr>
          <p:cNvSpPr/>
          <p:nvPr/>
        </p:nvSpPr>
        <p:spPr>
          <a:xfrm>
            <a:off x="358482" y="18277515"/>
            <a:ext cx="27167593" cy="2121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86042-B3CA-45B4-BBA6-D8AE047D0E1D}"/>
              </a:ext>
            </a:extLst>
          </p:cNvPr>
          <p:cNvSpPr txBox="1"/>
          <p:nvPr/>
        </p:nvSpPr>
        <p:spPr>
          <a:xfrm>
            <a:off x="805780" y="18539768"/>
            <a:ext cx="7832035" cy="16043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SG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Engineering Design and Innovation Centre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Block E2A #04-05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 Engineering Drive 2</a:t>
            </a:r>
          </a:p>
          <a:p>
            <a:pPr lvl="0">
              <a:lnSpc>
                <a:spcPct val="120000"/>
              </a:lnSpc>
            </a:pPr>
            <a:r>
              <a:rPr lang="en-SG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Singapore 117579</a:t>
            </a:r>
          </a:p>
        </p:txBody>
      </p:sp>
      <p:pic>
        <p:nvPicPr>
          <p:cNvPr id="26" name="Content Placeholder 4" descr="Email outline">
            <a:extLst>
              <a:ext uri="{FF2B5EF4-FFF2-40B4-BE49-F238E27FC236}">
                <a16:creationId xmlns:a16="http://schemas.microsoft.com/office/drawing/2014/main" id="{D89B9444-F540-46F2-BB43-F44016CF9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39941" y="19426276"/>
            <a:ext cx="840817" cy="840817"/>
          </a:xfrm>
          <a:prstGeom prst="rect">
            <a:avLst/>
          </a:prstGeom>
        </p:spPr>
      </p:pic>
      <p:pic>
        <p:nvPicPr>
          <p:cNvPr id="27" name="Graphic 26" descr="Internet outline">
            <a:extLst>
              <a:ext uri="{FF2B5EF4-FFF2-40B4-BE49-F238E27FC236}">
                <a16:creationId xmlns:a16="http://schemas.microsoft.com/office/drawing/2014/main" id="{8E2EFEA5-6E39-4CB5-8222-5600E38BF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39941" y="18430924"/>
            <a:ext cx="840817" cy="840817"/>
          </a:xfrm>
          <a:prstGeom prst="rect">
            <a:avLst/>
          </a:prstGeom>
        </p:spPr>
      </p:pic>
      <p:sp>
        <p:nvSpPr>
          <p:cNvPr id="28" name="TextBox 14">
            <a:extLst>
              <a:ext uri="{FF2B5EF4-FFF2-40B4-BE49-F238E27FC236}">
                <a16:creationId xmlns:a16="http://schemas.microsoft.com/office/drawing/2014/main" id="{4A0BC775-0179-4BA5-8A4F-AF38E09A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5270" y="19492741"/>
            <a:ext cx="34936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Email:</a:t>
            </a:r>
          </a:p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idp-query@nus.edu.sg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0960DAA2-B05F-4258-840F-3EF07A73B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5270" y="18497389"/>
            <a:ext cx="38715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Website:</a:t>
            </a:r>
          </a:p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https://cde.nus.edu.sg/edic/</a:t>
            </a: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08183599-931E-44A0-865D-87076443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3674" y="18282588"/>
            <a:ext cx="1137489" cy="113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Instagram - Wikipedia">
            <a:extLst>
              <a:ext uri="{FF2B5EF4-FFF2-40B4-BE49-F238E27FC236}">
                <a16:creationId xmlns:a16="http://schemas.microsoft.com/office/drawing/2014/main" id="{EC00D1A7-2057-4C17-8D2F-2FA54BE5D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8554" y="19492820"/>
            <a:ext cx="707729" cy="70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Facebook Icon Logo Vector (.EPS) Free Download | Facebook icon vector,  Facebook icons, Facebook logo png">
            <a:extLst>
              <a:ext uri="{FF2B5EF4-FFF2-40B4-BE49-F238E27FC236}">
                <a16:creationId xmlns:a16="http://schemas.microsoft.com/office/drawing/2014/main" id="{C612C420-F982-4245-BFC7-0A1CF55EA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18591" r="18227" b="18232"/>
          <a:stretch/>
        </p:blipFill>
        <p:spPr bwMode="auto">
          <a:xfrm>
            <a:off x="24725408" y="18501559"/>
            <a:ext cx="707729" cy="69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YouTube is getting a new logo every week this month – here&amp;#39;s why | Creative  Bloq">
            <a:extLst>
              <a:ext uri="{FF2B5EF4-FFF2-40B4-BE49-F238E27FC236}">
                <a16:creationId xmlns:a16="http://schemas.microsoft.com/office/drawing/2014/main" id="{EEA2F329-BCF0-4A32-8B3B-01D1FCDA3B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9" t="33131" r="65520" b="33602"/>
          <a:stretch/>
        </p:blipFill>
        <p:spPr bwMode="auto">
          <a:xfrm>
            <a:off x="24725291" y="19604110"/>
            <a:ext cx="707963" cy="48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C0EC766-9804-40DB-9663-0F5DB659F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199" y="19646629"/>
            <a:ext cx="13122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01DC70-C208-4CBE-8AA6-D19FDB0B3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6421" y="18651277"/>
            <a:ext cx="13122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7BD8D7-B1B6-4F02-AD32-DA5FC9CB1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199" y="18497389"/>
            <a:ext cx="318080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 Innovation &amp; Design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Programme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407498-16C2-4FD3-AA1C-018DC54A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6421" y="19646629"/>
            <a:ext cx="1351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NUS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iDP</a:t>
            </a: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8FBFC6-1368-4917-9208-55896DC39756}"/>
              </a:ext>
            </a:extLst>
          </p:cNvPr>
          <p:cNvSpPr txBox="1"/>
          <p:nvPr/>
        </p:nvSpPr>
        <p:spPr>
          <a:xfrm>
            <a:off x="23214938" y="2956342"/>
            <a:ext cx="6693855" cy="189981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SG" sz="2000" b="0" dirty="0">
                <a:effectLst/>
                <a:latin typeface="Verdana" panose="020B0604030504040204" pitchFamily="34" charset="0"/>
              </a:rPr>
              <a:t>Student name 1 | </a:t>
            </a:r>
            <a:r>
              <a:rPr lang="en-SG" sz="2000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Discipline 1</a:t>
            </a:r>
            <a:r>
              <a:rPr lang="en-SG" sz="2000" b="0" dirty="0">
                <a:effectLst/>
                <a:latin typeface="Verdana" panose="020B0604030504040204" pitchFamily="34" charset="0"/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SG" sz="2000" b="0" i="0" dirty="0">
                <a:effectLst/>
                <a:latin typeface="Verdana" panose="020B0604030504040204" pitchFamily="34" charset="0"/>
              </a:rPr>
              <a:t>Student name 2 </a:t>
            </a:r>
            <a:r>
              <a:rPr lang="en-SG" sz="2000" b="0" dirty="0">
                <a:effectLst/>
                <a:latin typeface="Verdana" panose="020B0604030504040204" pitchFamily="34" charset="0"/>
              </a:rPr>
              <a:t>| </a:t>
            </a:r>
            <a:r>
              <a:rPr lang="en-SG" sz="2000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Discipline 2</a:t>
            </a:r>
            <a:endParaRPr lang="en-SG" sz="2000" dirty="0">
              <a:solidFill>
                <a:srgbClr val="EF7C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lnSpc>
                <a:spcPct val="120000"/>
              </a:lnSpc>
            </a:pPr>
            <a:r>
              <a:rPr lang="en-SG" sz="2000" b="0" dirty="0">
                <a:effectLst/>
                <a:latin typeface="Verdana" panose="020B0604030504040204" pitchFamily="34" charset="0"/>
              </a:rPr>
              <a:t>Student name 3 | </a:t>
            </a:r>
            <a:r>
              <a:rPr lang="en-SG" sz="2000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Discipline 3 </a:t>
            </a:r>
          </a:p>
          <a:p>
            <a:pPr algn="r">
              <a:lnSpc>
                <a:spcPct val="120000"/>
              </a:lnSpc>
            </a:pPr>
            <a:r>
              <a:rPr lang="en-SG" sz="2000" dirty="0">
                <a:latin typeface="Verdana" panose="020B0604030504040204" pitchFamily="34" charset="0"/>
              </a:rPr>
              <a:t>Student name 4 | </a:t>
            </a:r>
            <a:r>
              <a:rPr lang="en-SG" sz="2000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Discipline 4 </a:t>
            </a:r>
          </a:p>
          <a:p>
            <a:pPr algn="r">
              <a:lnSpc>
                <a:spcPct val="120000"/>
              </a:lnSpc>
            </a:pPr>
            <a:r>
              <a:rPr lang="en-SG" sz="2000" dirty="0">
                <a:latin typeface="Verdana" panose="020B0604030504040204" pitchFamily="34" charset="0"/>
              </a:rPr>
              <a:t>Student name 5 | </a:t>
            </a:r>
            <a:r>
              <a:rPr lang="en-SG" sz="2000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Discipline 5</a:t>
            </a:r>
            <a:endParaRPr lang="en-SG" sz="2000" dirty="0">
              <a:latin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EB6B2D-A18B-9D3B-CB40-D0EBB898F1A7}"/>
              </a:ext>
            </a:extLst>
          </p:cNvPr>
          <p:cNvSpPr txBox="1"/>
          <p:nvPr/>
        </p:nvSpPr>
        <p:spPr>
          <a:xfrm>
            <a:off x="805779" y="3661176"/>
            <a:ext cx="26720295" cy="1387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93461">
              <a:lnSpc>
                <a:spcPct val="120000"/>
              </a:lnSpc>
              <a:defRPr/>
            </a:pPr>
            <a:r>
              <a:rPr lang="en-SG" sz="4000" b="1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Suggested key points: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Summarise</a:t>
            </a: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 the problem of interest </a:t>
            </a:r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the key features/aspects of your solution.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The highlighted features/aspects should clearly address the issues mentioned in the problem above.</a:t>
            </a: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You may insert few pictures/diagrams/charts that best represent the outcome of your project.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defTabSz="1293461">
              <a:lnSpc>
                <a:spcPct val="120000"/>
              </a:lnSpc>
              <a:defRPr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defTabSz="1293461">
              <a:lnSpc>
                <a:spcPct val="120000"/>
              </a:lnSpc>
              <a:defRPr/>
            </a:pPr>
            <a:r>
              <a:rPr lang="en-SG" sz="4000" b="1" dirty="0">
                <a:solidFill>
                  <a:srgbClr val="003D7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Requirements:</a:t>
            </a: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Minimum font size must be 28 pt.</a:t>
            </a: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Images must not be blur or pixelated when zooming in at 100%.</a:t>
            </a: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Delete this textbox after you insert your content. </a:t>
            </a: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46730" indent="-64673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 NOT ALTER THE TOP AND BOTTOM BANNERS – YOUR CONTENT MUST BE PLACED ENTIRELY WITHIN THIS SPACE ONLY.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346917-CF16-DB96-E036-8869C515104C}"/>
              </a:ext>
            </a:extLst>
          </p:cNvPr>
          <p:cNvSpPr/>
          <p:nvPr/>
        </p:nvSpPr>
        <p:spPr>
          <a:xfrm>
            <a:off x="359950" y="20398931"/>
            <a:ext cx="27166125" cy="627183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cap="small" spc="100" dirty="0">
                <a:latin typeface="Verdana" panose="020B0604030504040204" pitchFamily="34" charset="0"/>
                <a:ea typeface="Verdana" panose="020B0604030504040204" pitchFamily="34" charset="0"/>
              </a:rPr>
              <a:t>Innovation &amp; Design Programme</a:t>
            </a:r>
          </a:p>
        </p:txBody>
      </p:sp>
      <p:pic>
        <p:nvPicPr>
          <p:cNvPr id="23" name="Picture 2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99457B4-6085-F23B-27D5-BB6D99D507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543" y="18889445"/>
            <a:ext cx="2379782" cy="237978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ECD9C6E-A6F3-2204-4D68-E0799722E2FF}"/>
              </a:ext>
            </a:extLst>
          </p:cNvPr>
          <p:cNvSpPr txBox="1"/>
          <p:nvPr/>
        </p:nvSpPr>
        <p:spPr>
          <a:xfrm>
            <a:off x="27621891" y="18277515"/>
            <a:ext cx="2191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Scan here </a:t>
            </a: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to vote!</a:t>
            </a:r>
            <a:endParaRPr lang="en-SG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528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548318-0a7b-4d65-bc43-907c956e523a">
      <Terms xmlns="http://schemas.microsoft.com/office/infopath/2007/PartnerControls"/>
    </lcf76f155ced4ddcb4097134ff3c332f>
    <TaxCatchAll xmlns="c9422598-6492-471d-9d1f-9c77f43a94f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5615753B5CCD43966271C4BDE5B13C" ma:contentTypeVersion="12" ma:contentTypeDescription="Create a new document." ma:contentTypeScope="" ma:versionID="07d938646584b3620a216412687bf4bb">
  <xsd:schema xmlns:xsd="http://www.w3.org/2001/XMLSchema" xmlns:xs="http://www.w3.org/2001/XMLSchema" xmlns:p="http://schemas.microsoft.com/office/2006/metadata/properties" xmlns:ns2="49548318-0a7b-4d65-bc43-907c956e523a" xmlns:ns3="c9422598-6492-471d-9d1f-9c77f43a94f7" targetNamespace="http://schemas.microsoft.com/office/2006/metadata/properties" ma:root="true" ma:fieldsID="f7b3de0ef6ad19dc03a2ca3c97ede2cd" ns2:_="" ns3:_="">
    <xsd:import namespace="49548318-0a7b-4d65-bc43-907c956e523a"/>
    <xsd:import namespace="c9422598-6492-471d-9d1f-9c77f43a94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48318-0a7b-4d65-bc43-907c956e52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22598-6492-471d-9d1f-9c77f43a94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daf673d-7196-4f99-b5ca-d94ad85403b2}" ma:internalName="TaxCatchAll" ma:showField="CatchAllData" ma:web="c9422598-6492-471d-9d1f-9c77f43a94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408873-0B05-4CE8-8560-BDBB3F4ADC62}">
  <ds:schemaRefs>
    <ds:schemaRef ds:uri="http://schemas.microsoft.com/office/2006/metadata/properties"/>
    <ds:schemaRef ds:uri="http://schemas.microsoft.com/office/infopath/2007/PartnerControls"/>
    <ds:schemaRef ds:uri="b29931fe-4fc5-436a-9e90-a11aaebbaaf1"/>
    <ds:schemaRef ds:uri="2fd78287-9c13-4cc7-8a85-13ec0baf565a"/>
    <ds:schemaRef ds:uri="49548318-0a7b-4d65-bc43-907c956e523a"/>
    <ds:schemaRef ds:uri="c9422598-6492-471d-9d1f-9c77f43a94f7"/>
  </ds:schemaRefs>
</ds:datastoreItem>
</file>

<file path=customXml/itemProps2.xml><?xml version="1.0" encoding="utf-8"?>
<ds:datastoreItem xmlns:ds="http://schemas.openxmlformats.org/officeDocument/2006/customXml" ds:itemID="{D6D01FB0-3F13-40AA-9518-74CC9F3DEE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548318-0a7b-4d65-bc43-907c956e523a"/>
    <ds:schemaRef ds:uri="c9422598-6492-471d-9d1f-9c77f43a94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A7A412-5E19-4261-A626-19E4094F11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626</TotalTime>
  <Words>722</Words>
  <Application>Microsoft Office PowerPoint</Application>
  <PresentationFormat>Custom</PresentationFormat>
  <Paragraphs>144</Paragraphs>
  <Slides>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21" baseType="lpstr">
      <vt:lpstr>DejaVu Sans Light</vt:lpstr>
      <vt:lpstr>Lexend Deca</vt:lpstr>
      <vt:lpstr>Lexend Exa</vt:lpstr>
      <vt:lpstr>Lexend Zetta</vt:lpstr>
      <vt:lpstr>Red Hat Display</vt:lpstr>
      <vt:lpstr>Red Hat Display Bold</vt:lpstr>
      <vt:lpstr>Red Hat Display Bold Italics</vt:lpstr>
      <vt:lpstr>Zuume Rough Bold</vt:lpstr>
      <vt:lpstr>Aptos</vt:lpstr>
      <vt:lpstr>Arial</vt:lpstr>
      <vt:lpstr>Calibri</vt:lpstr>
      <vt:lpstr>Calibri Light</vt:lpstr>
      <vt:lpstr>Iskoola Pota</vt:lpstr>
      <vt:lpstr>Verdana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Law</dc:creator>
  <cp:lastModifiedBy>Jeanette Sim</cp:lastModifiedBy>
  <cp:revision>26</cp:revision>
  <dcterms:created xsi:type="dcterms:W3CDTF">2022-04-18T01:13:25Z</dcterms:created>
  <dcterms:modified xsi:type="dcterms:W3CDTF">2026-04-08T09:45:21Z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0x010100065615753B5CCD43966271C4BDE5B13C</vt:lpwstr>
  </property>
  <property fmtid="{D5CDD505-2E9C-101B-9397-08002B2CF9AE}" pid="3" name="MediaServiceImageTags">
    <vt:lpwstr/>
  </property>
</Properties>
</file>